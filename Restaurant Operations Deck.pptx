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Lift</c:v>
                </c:pt>
              </c:strCache>
            </c:strRef>
          </c:tx>
          <c:spPr>
            <a:solidFill>
              <a:srgbClr val="B04A2F"/>
            </a:solidFill>
            <a:effectLst/>
          </c:spPr>
          <c:invertIfNegative val="0"/>
          <c:dLbls>
            <c:numFmt formatCode="0.00" sourceLinked="0"/>
            <c:txPr>
              <a:bodyPr/>
              <a:lstStyle/>
              <a:p>
                <a:pPr>
                  <a:defRPr b="0" i="0" strike="noStrike" sz="1100" u="none">
                    <a:solidFill>
                      <a:srgbClr val="21201D"/>
                    </a:solidFill>
                    <a:latin typeface="Calibri"/>
                  </a:defRPr>
                </a:pPr>
              </a:p>
            </c:txPr>
            <c:showLegendKey val="0"/>
            <c:showVal val="1"/>
            <c:showCatName val="0"/>
            <c:showSerName val="0"/>
            <c:showPercent val="0"/>
            <c:showBubbleSize val="0"/>
            <c:showLeaderLines val="0"/>
          </c:dLbls>
          <c:dPt>
            <c:idx val="0"/>
            <c:invertIfNegative val="0"/>
            <c:bubble3D val="0"/>
            <c:spPr>
              <a:solidFill>
                <a:srgbClr val="B04A2F"/>
              </a:solidFill>
              <a:effectLst/>
            </c:spPr>
          </c:dPt>
          <c:dPt>
            <c:idx val="1"/>
            <c:invertIfNegative val="0"/>
            <c:bubble3D val="0"/>
            <c:spPr>
              <a:solidFill>
                <a:srgbClr val="6B7A4F"/>
              </a:solidFill>
              <a:effectLst/>
            </c:spPr>
          </c:dPt>
          <c:dPt>
            <c:idx val="2"/>
            <c:invertIfNegative val="0"/>
            <c:bubble3D val="0"/>
            <c:spPr>
              <a:solidFill>
                <a:srgbClr val="C9A227"/>
              </a:solidFill>
              <a:effectLst/>
            </c:spPr>
          </c:dPt>
          <c:cat>
            <c:multiLvlStrRef>
              <c:f>Sheet1!$A$2:$A$4</c:f>
              <c:multiLvlStrCache>
                <c:ptCount val="3"/>
                <c:lvl>
                  <c:pt idx="0">
                    <c:v>Lollipop
+ Wings</c:v>
                  </c:pt>
                  <c:pt idx="1">
                    <c:v>Cold Coffee
+ Pizza</c:v>
                  </c:pt>
                  <c:pt idx="2">
                    <c:v>Mojito
+ Pizza</c:v>
                  </c:pt>
                </c:lvl>
              </c:multiLvlStrCache>
            </c:multiLvlStrRef>
          </c:cat>
          <c:val>
            <c:numRef>
              <c:f>Sheet1!$B$2:$B$4</c:f>
              <c:numCache>
                <c:formatCode>General</c:formatCode>
                <c:ptCount val="3"/>
                <c:pt idx="0">
                  <c:v>3.15</c:v>
                </c:pt>
                <c:pt idx="1">
                  <c:v>1.29</c:v>
                </c:pt>
                <c:pt idx="2">
                  <c:v>1.28</c:v>
                </c:pt>
              </c:numCache>
            </c:numRef>
          </c:val>
        </c:ser>
        <c:dLbls>
          <c:numFmt formatCode="0.00" sourceLinked="0"/>
          <c:txPr>
            <a:bodyPr/>
            <a:lstStyle/>
            <a:p>
              <a:pPr>
                <a:defRPr b="0" i="0" strike="noStrike" sz="1100" u="none">
                  <a:solidFill>
                    <a:srgbClr val="21201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75C"/>
                </a:solidFill>
                <a:latin typeface="Calibri"/>
              </a:defRPr>
            </a:pPr>
            <a:endParaRPr lang="en-US"/>
          </a:p>
        </c:txPr>
        <c:crossAx val="2094734552"/>
        <c:crosses val="autoZero"/>
        <c:auto val="1"/>
        <c:lblAlgn val="ctr"/>
        <c:noMultiLvlLbl val="1"/>
      </c:catAx>
      <c:valAx>
        <c:axId val="2094734552"/>
        <c:scaling>
          <c:orientation val="minMax"/>
          <c:max val="4"/>
        </c:scaling>
        <c:delete val="0"/>
        <c:axPos val="l"/>
        <c:majorGridlines>
          <c:spPr>
            <a:ln w="12700" cap="flat">
              <a:solidFill>
                <a:srgbClr val="DDD5C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75C"/>
                </a:solidFill>
                <a:latin typeface="Calibri"/>
              </a:defRPr>
            </a:pPr>
            <a:endParaRPr lang="en-US"/>
          </a:p>
        </c:txPr>
        <c:crossAx val="2094734554"/>
        <c:crosses val="autoZero"/>
        <c:crossBetween val="between"/>
      </c:valAx>
      <c:spPr>
        <a:solidFill>
          <a:srgbClr val="F6F2EA"/>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Forecast</c:v>
                </c:pt>
              </c:strCache>
            </c:strRef>
          </c:tx>
          <c:spPr>
            <a:solidFill>
              <a:srgbClr val="B04A2F"/>
            </a:solidFill>
            <a:ln w="38100" cap="flat">
              <a:solidFill>
                <a:srgbClr val="B04A2F"/>
              </a:solidFill>
              <a:prstDash val="solid"/>
              <a:round/>
            </a:ln>
            <a:effectLst/>
          </c:spPr>
          <c:invertIfNegative val="0"/>
          <c:dLbls>
            <c:numFmt formatCode="#,##0" sourceLinked="0"/>
            <c:txPr>
              <a:bodyPr/>
              <a:lstStyle/>
              <a:p>
                <a:pPr>
                  <a:defRPr b="0" i="0" strike="noStrike" sz="1100" u="none">
                    <a:solidFill>
                      <a:srgbClr val="21201D"/>
                    </a:solidFill>
                    <a:latin typeface="Calibri"/>
                  </a:defRPr>
                </a:pPr>
              </a:p>
            </c:txPr>
            <c:showLegendKey val="0"/>
            <c:showVal val="0"/>
            <c:showCatName val="0"/>
            <c:showSerName val="0"/>
            <c:showPercent val="0"/>
            <c:showBubbleSize val="0"/>
            <c:showLeaderLines val="0"/>
          </c:dLbls>
          <c:marker>
            <c:symbol val="circle"/>
            <c:size val="6"/>
            <c:spPr>
              <a:solidFill>
                <a:srgbClr val="B04A2F"/>
              </a:solidFill>
              <a:ln w="9525" cap="flat">
                <a:solidFill>
                  <a:srgbClr val="B04A2F"/>
                </a:solidFill>
                <a:prstDash val="solid"/>
                <a:round/>
              </a:ln>
              <a:effectLst/>
            </c:spPr>
          </c:marker>
          <c:cat>
            <c:multiLvlStrRef>
              <c:f>Sheet1!$A$2:$A$13</c:f>
              <c:multiLvlStrCache>
                <c:ptCount val="12"/>
                <c:lvl>
                  <c:pt idx="0">
                    <c:v>W1</c:v>
                  </c:pt>
                  <c:pt idx="1">
                    <c:v>W2</c:v>
                  </c:pt>
                  <c:pt idx="2">
                    <c:v>W3</c:v>
                  </c:pt>
                  <c:pt idx="3">
                    <c:v>W4</c:v>
                  </c:pt>
                  <c:pt idx="4">
                    <c:v>W5</c:v>
                  </c:pt>
                  <c:pt idx="5">
                    <c:v>W6</c:v>
                  </c:pt>
                  <c:pt idx="6">
                    <c:v>W7</c:v>
                  </c:pt>
                  <c:pt idx="7">
                    <c:v>W8</c:v>
                  </c:pt>
                  <c:pt idx="8">
                    <c:v>W9</c:v>
                  </c:pt>
                  <c:pt idx="9">
                    <c:v>W10</c:v>
                  </c:pt>
                  <c:pt idx="10">
                    <c:v>W11</c:v>
                  </c:pt>
                  <c:pt idx="11">
                    <c:v>W12</c:v>
                  </c:pt>
                </c:lvl>
              </c:multiLvlStrCache>
            </c:multiLvlStrRef>
          </c:cat>
          <c:val>
            <c:numRef>
              <c:f>Sheet1!$B$2:$B$13</c:f>
              <c:numCache>
                <c:formatCode>General</c:formatCode>
                <c:ptCount val="12"/>
                <c:pt idx="0">
                  <c:v>39.9</c:v>
                </c:pt>
                <c:pt idx="1">
                  <c:v>28.1</c:v>
                </c:pt>
                <c:pt idx="2">
                  <c:v>33.5</c:v>
                </c:pt>
                <c:pt idx="3">
                  <c:v>31</c:v>
                </c:pt>
                <c:pt idx="4">
                  <c:v>32.1</c:v>
                </c:pt>
                <c:pt idx="5">
                  <c:v>31.6</c:v>
                </c:pt>
                <c:pt idx="6">
                  <c:v>31.9</c:v>
                </c:pt>
                <c:pt idx="7">
                  <c:v>31.8</c:v>
                </c:pt>
                <c:pt idx="8">
                  <c:v>31.8</c:v>
                </c:pt>
                <c:pt idx="9">
                  <c:v>31.8</c:v>
                </c:pt>
                <c:pt idx="10">
                  <c:v>31.8</c:v>
                </c:pt>
                <c:pt idx="11">
                  <c:v>31.8</c:v>
                </c:pt>
              </c:numCache>
            </c:numRef>
          </c:val>
          <c:smooth val="1"/>
        </c:ser>
        <c:ser>
          <c:idx val="1"/>
          <c:order val="1"/>
          <c:tx>
            <c:strRef>
              <c:f>Sheet1!$C$1</c:f>
              <c:strCache>
                <c:ptCount val="1"/>
                <c:pt idx="0">
                  <c:v>Best case</c:v>
                </c:pt>
              </c:strCache>
            </c:strRef>
          </c:tx>
          <c:spPr>
            <a:solidFill>
              <a:srgbClr val="6B7A4F"/>
            </a:solidFill>
            <a:ln w="38100" cap="flat">
              <a:solidFill>
                <a:srgbClr val="6B7A4F"/>
              </a:solidFill>
              <a:prstDash val="solid"/>
              <a:round/>
            </a:ln>
            <a:effectLst/>
          </c:spPr>
          <c:invertIfNegative val="0"/>
          <c:dLbls>
            <c:numFmt formatCode="#,##0" sourceLinked="0"/>
            <c:txPr>
              <a:bodyPr/>
              <a:lstStyle/>
              <a:p>
                <a:pPr>
                  <a:defRPr b="0" i="0" strike="noStrike" sz="1100" u="none">
                    <a:solidFill>
                      <a:srgbClr val="21201D"/>
                    </a:solidFill>
                    <a:latin typeface="Calibri"/>
                  </a:defRPr>
                </a:pPr>
              </a:p>
            </c:txPr>
            <c:showLegendKey val="0"/>
            <c:showVal val="0"/>
            <c:showCatName val="0"/>
            <c:showSerName val="0"/>
            <c:showPercent val="0"/>
            <c:showBubbleSize val="0"/>
            <c:showLeaderLines val="0"/>
          </c:dLbls>
          <c:marker>
            <c:symbol val="circle"/>
            <c:size val="6"/>
            <c:spPr>
              <a:solidFill>
                <a:srgbClr val="6B7A4F"/>
              </a:solidFill>
              <a:ln w="9525" cap="flat">
                <a:solidFill>
                  <a:srgbClr val="6B7A4F"/>
                </a:solidFill>
                <a:prstDash val="solid"/>
                <a:round/>
              </a:ln>
              <a:effectLst/>
            </c:spPr>
          </c:marker>
          <c:cat>
            <c:multiLvlStrRef>
              <c:f>Sheet1!$A$2:$A$13</c:f>
              <c:multiLvlStrCache>
                <c:ptCount val="12"/>
                <c:lvl>
                  <c:pt idx="0">
                    <c:v>W1</c:v>
                  </c:pt>
                  <c:pt idx="1">
                    <c:v>W2</c:v>
                  </c:pt>
                  <c:pt idx="2">
                    <c:v>W3</c:v>
                  </c:pt>
                  <c:pt idx="3">
                    <c:v>W4</c:v>
                  </c:pt>
                  <c:pt idx="4">
                    <c:v>W5</c:v>
                  </c:pt>
                  <c:pt idx="5">
                    <c:v>W6</c:v>
                  </c:pt>
                  <c:pt idx="6">
                    <c:v>W7</c:v>
                  </c:pt>
                  <c:pt idx="7">
                    <c:v>W8</c:v>
                  </c:pt>
                  <c:pt idx="8">
                    <c:v>W9</c:v>
                  </c:pt>
                  <c:pt idx="9">
                    <c:v>W10</c:v>
                  </c:pt>
                  <c:pt idx="10">
                    <c:v>W11</c:v>
                  </c:pt>
                  <c:pt idx="11">
                    <c:v>W12</c:v>
                  </c:pt>
                </c:lvl>
              </c:multiLvlStrCache>
            </c:multiLvlStrRef>
          </c:cat>
          <c:val>
            <c:numRef>
              <c:f>Sheet1!$C$2:$C$13</c:f>
              <c:numCache>
                <c:formatCode>General</c:formatCode>
                <c:ptCount val="12"/>
                <c:pt idx="0">
                  <c:v>93.3</c:v>
                </c:pt>
                <c:pt idx="1">
                  <c:v>88.9</c:v>
                </c:pt>
                <c:pt idx="2">
                  <c:v>106.3</c:v>
                </c:pt>
                <c:pt idx="3">
                  <c:v>112</c:v>
                </c:pt>
                <c:pt idx="4">
                  <c:v>121.3</c:v>
                </c:pt>
                <c:pt idx="5">
                  <c:v>127.9</c:v>
                </c:pt>
                <c:pt idx="6">
                  <c:v>135</c:v>
                </c:pt>
                <c:pt idx="7">
                  <c:v>141.2</c:v>
                </c:pt>
                <c:pt idx="8">
                  <c:v>147.2</c:v>
                </c:pt>
                <c:pt idx="9">
                  <c:v>152.9</c:v>
                </c:pt>
                <c:pt idx="10">
                  <c:v>158.4</c:v>
                </c:pt>
                <c:pt idx="11">
                  <c:v>163.6</c:v>
                </c:pt>
              </c:numCache>
            </c:numRef>
          </c:val>
          <c:smooth val="1"/>
        </c:ser>
        <c:dLbls>
          <c:numFmt formatCode="#,##0" sourceLinked="0"/>
          <c:txPr>
            <a:bodyPr/>
            <a:lstStyle/>
            <a:p>
              <a:pPr>
                <a:defRPr b="0" i="0" strike="noStrike" sz="1100" u="none">
                  <a:solidFill>
                    <a:srgbClr val="21201D"/>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75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D5C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75C"/>
                </a:solidFill>
                <a:latin typeface="Calibri"/>
              </a:defRPr>
            </a:pPr>
            <a:endParaRPr lang="en-US"/>
          </a:p>
        </c:txPr>
        <c:crossAx val="2094734554"/>
        <c:crosses val="autoZero"/>
        <c:crossBetween val="between"/>
      </c:valAx>
      <c:spPr>
        <a:solidFill>
          <a:srgbClr val="F6F2EA"/>
        </a:solidFill>
        <a:ln>
          <a:noFill/>
        </a:ln>
        <a:effectLst/>
      </c:spPr>
    </c:plotArea>
    <c:legend>
      <c:legendPos val="b"/>
      <c:overlay val="0"/>
      <c:txPr>
        <a:bodyPr/>
        <a:lstStyle/>
        <a:p>
          <a:pPr>
            <a:defRPr sz="1100">
              <a:solidFill>
                <a:srgbClr val="6E675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c:v>
                </c:pt>
              </c:strCache>
            </c:strRef>
          </c:tx>
          <c:spPr>
            <a:solidFill>
              <a:srgbClr val="B04A2F"/>
            </a:solidFill>
            <a:effectLst/>
          </c:spPr>
          <c:invertIfNegative val="0"/>
          <c:dLbls>
            <c:numFmt formatCode="#,##0" sourceLinked="0"/>
            <c:txPr>
              <a:bodyPr/>
              <a:lstStyle/>
              <a:p>
                <a:pPr>
                  <a:defRPr b="0" i="0" strike="noStrike" sz="1100" u="none">
                    <a:solidFill>
                      <a:srgbClr val="21201D"/>
                    </a:solidFill>
                    <a:latin typeface="Calibri"/>
                  </a:defRPr>
                </a:pPr>
              </a:p>
            </c:txPr>
            <c:showLegendKey val="0"/>
            <c:showVal val="1"/>
            <c:showCatName val="0"/>
            <c:showSerName val="0"/>
            <c:showPercent val="0"/>
            <c:showBubbleSize val="0"/>
            <c:showLeaderLines val="0"/>
          </c:dLbls>
          <c:dPt>
            <c:idx val="0"/>
            <c:invertIfNegative val="0"/>
            <c:bubble3D val="0"/>
            <c:spPr>
              <a:solidFill>
                <a:srgbClr val="B04A2F"/>
              </a:solidFill>
              <a:effectLst/>
            </c:spPr>
          </c:dPt>
          <c:dPt>
            <c:idx val="1"/>
            <c:invertIfNegative val="0"/>
            <c:bubble3D val="0"/>
            <c:spPr>
              <a:solidFill>
                <a:srgbClr val="6B7A4F"/>
              </a:solidFill>
              <a:effectLst/>
            </c:spPr>
          </c:dPt>
          <c:cat>
            <c:multiLvlStrRef>
              <c:f>Sheet1!$A$2:$A$3</c:f>
              <c:multiLvlStrCache>
                <c:ptCount val="2"/>
                <c:lvl>
                  <c:pt idx="0">
                    <c:v>Making one too many</c:v>
                  </c:pt>
                  <c:pt idx="1">
                    <c:v>Running out of one</c:v>
                  </c:pt>
                </c:lvl>
              </c:multiLvlStrCache>
            </c:multiLvlStrRef>
          </c:cat>
          <c:val>
            <c:numRef>
              <c:f>Sheet1!$B$2:$B$3</c:f>
              <c:numCache>
                <c:formatCode>General</c:formatCode>
                <c:ptCount val="2"/>
                <c:pt idx="0">
                  <c:v>90</c:v>
                </c:pt>
                <c:pt idx="1">
                  <c:v>140</c:v>
                </c:pt>
              </c:numCache>
            </c:numRef>
          </c:val>
        </c:ser>
        <c:dLbls>
          <c:numFmt formatCode="#,##0" sourceLinked="0"/>
          <c:txPr>
            <a:bodyPr/>
            <a:lstStyle/>
            <a:p>
              <a:pPr>
                <a:defRPr b="0" i="0" strike="noStrike" sz="1100" u="none">
                  <a:solidFill>
                    <a:srgbClr val="21201D"/>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E675C"/>
                </a:solidFill>
                <a:latin typeface="Calibri"/>
              </a:defRPr>
            </a:pPr>
            <a:endParaRPr lang="en-US"/>
          </a:p>
        </c:txPr>
        <c:crossAx val="2094734552"/>
        <c:crosses val="autoZero"/>
        <c:auto val="1"/>
        <c:lblAlgn val="ctr"/>
        <c:noMultiLvlLbl val="1"/>
      </c:catAx>
      <c:valAx>
        <c:axId val="2094734552"/>
        <c:scaling>
          <c:orientation val="minMax"/>
          <c:max val="180"/>
        </c:scaling>
        <c:delete val="0"/>
        <c:axPos val="b"/>
        <c:majorGridlines>
          <c:spPr>
            <a:ln w="12700" cap="flat">
              <a:solidFill>
                <a:srgbClr val="DDD5C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675C"/>
                </a:solidFill>
                <a:latin typeface="Calibri"/>
              </a:defRPr>
            </a:pPr>
            <a:endParaRPr lang="en-US"/>
          </a:p>
        </c:txPr>
        <c:crossAx val="2094734554"/>
        <c:crosses val="autoZero"/>
        <c:crossBetween val="between"/>
      </c:valAx>
      <c:spPr>
        <a:solidFill>
          <a:srgbClr val="F6F2EA"/>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Spare stock</c:v>
                </c:pt>
              </c:strCache>
            </c:strRef>
          </c:tx>
          <c:spPr>
            <a:solidFill>
              <a:srgbClr val="B04A2F"/>
            </a:solidFill>
            <a:effectLst/>
          </c:spPr>
          <c:invertIfNegative val="0"/>
          <c:dLbls>
            <c:numFmt formatCode="#,##0" sourceLinked="0"/>
            <c:txPr>
              <a:bodyPr/>
              <a:lstStyle/>
              <a:p>
                <a:pPr>
                  <a:defRPr b="0" i="0" strike="noStrike" sz="1100" u="none">
                    <a:solidFill>
                      <a:srgbClr val="21201D"/>
                    </a:solidFill>
                    <a:latin typeface="Calibri"/>
                  </a:defRPr>
                </a:pPr>
              </a:p>
            </c:txPr>
            <c:showLegendKey val="0"/>
            <c:showVal val="1"/>
            <c:showCatName val="0"/>
            <c:showSerName val="0"/>
            <c:showPercent val="0"/>
            <c:showBubbleSize val="0"/>
            <c:showLeaderLines val="0"/>
          </c:dLbls>
          <c:dPt>
            <c:idx val="0"/>
            <c:invertIfNegative val="0"/>
            <c:bubble3D val="0"/>
            <c:spPr>
              <a:solidFill>
                <a:srgbClr val="B04A2F"/>
              </a:solidFill>
              <a:effectLst/>
            </c:spPr>
          </c:dPt>
          <c:dPt>
            <c:idx val="1"/>
            <c:invertIfNegative val="0"/>
            <c:bubble3D val="0"/>
            <c:spPr>
              <a:solidFill>
                <a:srgbClr val="6B7A4F"/>
              </a:solidFill>
              <a:effectLst/>
            </c:spPr>
          </c:dPt>
          <c:dPt>
            <c:idx val="2"/>
            <c:invertIfNegative val="0"/>
            <c:bubble3D val="0"/>
            <c:spPr>
              <a:solidFill>
                <a:srgbClr val="C9A227"/>
              </a:solidFill>
              <a:effectLst/>
            </c:spPr>
          </c:dPt>
          <c:dPt>
            <c:idx val="3"/>
            <c:invertIfNegative val="0"/>
            <c:bubble3D val="0"/>
            <c:spPr>
              <a:solidFill>
                <a:srgbClr val="B04A2F"/>
              </a:solidFill>
              <a:effectLst/>
            </c:spPr>
          </c:dPt>
          <c:dPt>
            <c:idx val="4"/>
            <c:invertIfNegative val="0"/>
            <c:bubble3D val="0"/>
            <c:spPr>
              <a:solidFill>
                <a:srgbClr val="6B7A4F"/>
              </a:solidFill>
              <a:effectLst/>
            </c:spPr>
          </c:dPt>
          <c:dPt>
            <c:idx val="5"/>
            <c:invertIfNegative val="0"/>
            <c:bubble3D val="0"/>
            <c:spPr>
              <a:solidFill>
                <a:srgbClr val="C9A227"/>
              </a:solidFill>
              <a:effectLst/>
            </c:spPr>
          </c:dPt>
          <c:cat>
            <c:multiLvlStrRef>
              <c:f>Sheet1!$A$2:$A$7</c:f>
              <c:multiLvlStrCache>
                <c:ptCount val="6"/>
                <c:lvl>
                  <c:pt idx="0">
                    <c:v>BBQ Wings</c:v>
                  </c:pt>
                  <c:pt idx="1">
                    <c:v>Lollipop</c:v>
                  </c:pt>
                  <c:pt idx="2">
                    <c:v>Pizza</c:v>
                  </c:pt>
                  <c:pt idx="3">
                    <c:v>Baby Corn</c:v>
                  </c:pt>
                  <c:pt idx="4">
                    <c:v>Cold Coffee</c:v>
                  </c:pt>
                  <c:pt idx="5">
                    <c:v>Mojito</c:v>
                  </c:pt>
                </c:lvl>
              </c:multiLvlStrCache>
            </c:multiLvlStrRef>
          </c:cat>
          <c:val>
            <c:numRef>
              <c:f>Sheet1!$B$2:$B$7</c:f>
              <c:numCache>
                <c:formatCode>General</c:formatCode>
                <c:ptCount val="6"/>
                <c:pt idx="0">
                  <c:v>69.9</c:v>
                </c:pt>
                <c:pt idx="1">
                  <c:v>69.5</c:v>
                </c:pt>
                <c:pt idx="2">
                  <c:v>69.4</c:v>
                </c:pt>
                <c:pt idx="3">
                  <c:v>69.2</c:v>
                </c:pt>
                <c:pt idx="4">
                  <c:v>69.3</c:v>
                </c:pt>
                <c:pt idx="5">
                  <c:v>68.1</c:v>
                </c:pt>
              </c:numCache>
            </c:numRef>
          </c:val>
        </c:ser>
        <c:dLbls>
          <c:numFmt formatCode="#,##0" sourceLinked="0"/>
          <c:txPr>
            <a:bodyPr/>
            <a:lstStyle/>
            <a:p>
              <a:pPr>
                <a:defRPr b="0" i="0" strike="noStrike" sz="1100" u="none">
                  <a:solidFill>
                    <a:srgbClr val="21201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75C"/>
                </a:solidFill>
                <a:latin typeface="Calibri"/>
              </a:defRPr>
            </a:pPr>
            <a:endParaRPr lang="en-US"/>
          </a:p>
        </c:txPr>
        <c:crossAx val="2094734552"/>
        <c:crosses val="autoZero"/>
        <c:auto val="1"/>
        <c:lblAlgn val="ctr"/>
        <c:noMultiLvlLbl val="1"/>
      </c:catAx>
      <c:valAx>
        <c:axId val="2094734552"/>
        <c:scaling>
          <c:orientation val="minMax"/>
          <c:max val="90"/>
        </c:scaling>
        <c:delete val="0"/>
        <c:axPos val="l"/>
        <c:majorGridlines>
          <c:spPr>
            <a:ln w="12700" cap="flat">
              <a:solidFill>
                <a:srgbClr val="DDD5C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75C"/>
                </a:solidFill>
                <a:latin typeface="Calibri"/>
              </a:defRPr>
            </a:pPr>
            <a:endParaRPr lang="en-US"/>
          </a:p>
        </c:txPr>
        <c:crossAx val="2094734554"/>
        <c:crosses val="autoZero"/>
        <c:crossBetween val="between"/>
      </c:valAx>
      <c:spPr>
        <a:solidFill>
          <a:srgbClr val="F6F2EA"/>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Local Farm</c:v>
                </c:pt>
              </c:strCache>
            </c:strRef>
          </c:tx>
          <c:spPr>
            <a:solidFill>
              <a:srgbClr val="B04A2F"/>
            </a:solidFill>
            <a:effectLst/>
          </c:spPr>
          <c:invertIfNegative val="0"/>
          <c:dLbls>
            <c:numFmt formatCode="#,##0" sourceLinked="0"/>
            <c:txPr>
              <a:bodyPr/>
              <a:lstStyle/>
              <a:p>
                <a:pPr>
                  <a:defRPr b="0" i="0" strike="noStrike" sz="1100" u="none">
                    <a:solidFill>
                      <a:srgbClr val="21201D"/>
                    </a:solidFill>
                    <a:latin typeface="Calibri"/>
                  </a:defRPr>
                </a:pPr>
              </a:p>
            </c:txPr>
            <c:showLegendKey val="0"/>
            <c:showVal val="0"/>
            <c:showCatName val="0"/>
            <c:showSerName val="0"/>
            <c:showPercent val="0"/>
            <c:showBubbleSize val="0"/>
            <c:showLeaderLines val="0"/>
          </c:dLbls>
          <c:cat>
            <c:multiLvlStrRef>
              <c:f>Sheet1!$A$2:$A$5</c:f>
              <c:multiLvlStrCache>
                <c:ptCount val="4"/>
                <c:lvl>
                  <c:pt idx="0">
                    <c:v>Chicken</c:v>
                  </c:pt>
                  <c:pt idx="1">
                    <c:v>Vegetables</c:v>
                  </c:pt>
                  <c:pt idx="2">
                    <c:v>Dairy</c:v>
                  </c:pt>
                  <c:pt idx="3">
                    <c:v>Syrups</c:v>
                  </c:pt>
                </c:lvl>
              </c:multiLvlStrCache>
            </c:multiLvlStrRef>
          </c:cat>
          <c:val>
            <c:numRef>
              <c:f>Sheet1!$B$2:$B$5</c:f>
              <c:numCache>
                <c:formatCode>General</c:formatCode>
                <c:ptCount val="4"/>
                <c:pt idx="0">
                  <c:v>670</c:v>
                </c:pt>
                <c:pt idx="1">
                  <c:v>640</c:v>
                </c:pt>
                <c:pt idx="2">
                  <c:v>702</c:v>
                </c:pt>
                <c:pt idx="3">
                  <c:v>644</c:v>
                </c:pt>
              </c:numCache>
            </c:numRef>
          </c:val>
        </c:ser>
        <c:ser>
          <c:idx val="1"/>
          <c:order val="1"/>
          <c:tx>
            <c:strRef>
              <c:f>Sheet1!$C$1</c:f>
              <c:strCache>
                <c:ptCount val="1"/>
                <c:pt idx="0">
                  <c:v>City Central</c:v>
                </c:pt>
              </c:strCache>
            </c:strRef>
          </c:tx>
          <c:spPr>
            <a:solidFill>
              <a:srgbClr val="6B7A4F"/>
            </a:solidFill>
            <a:effectLst/>
          </c:spPr>
          <c:invertIfNegative val="0"/>
          <c:dLbls>
            <c:numFmt formatCode="#,##0" sourceLinked="0"/>
            <c:txPr>
              <a:bodyPr/>
              <a:lstStyle/>
              <a:p>
                <a:pPr>
                  <a:defRPr b="0" i="0" strike="noStrike" sz="1100" u="none">
                    <a:solidFill>
                      <a:srgbClr val="21201D"/>
                    </a:solidFill>
                    <a:latin typeface="Calibri"/>
                  </a:defRPr>
                </a:pPr>
              </a:p>
            </c:txPr>
            <c:showLegendKey val="0"/>
            <c:showVal val="0"/>
            <c:showCatName val="0"/>
            <c:showSerName val="0"/>
            <c:showPercent val="0"/>
            <c:showBubbleSize val="0"/>
            <c:showLeaderLines val="0"/>
          </c:dLbls>
          <c:cat>
            <c:multiLvlStrRef>
              <c:f>Sheet1!$A$2:$A$5</c:f>
              <c:multiLvlStrCache>
                <c:ptCount val="4"/>
                <c:lvl>
                  <c:pt idx="0">
                    <c:v>Chicken</c:v>
                  </c:pt>
                  <c:pt idx="1">
                    <c:v>Vegetables</c:v>
                  </c:pt>
                  <c:pt idx="2">
                    <c:v>Dairy</c:v>
                  </c:pt>
                  <c:pt idx="3">
                    <c:v>Syrups</c:v>
                  </c:pt>
                </c:lvl>
              </c:multiLvlStrCache>
            </c:multiLvlStrRef>
          </c:cat>
          <c:val>
            <c:numRef>
              <c:f>Sheet1!$C$2:$C$5</c:f>
              <c:numCache>
                <c:formatCode>General</c:formatCode>
                <c:ptCount val="4"/>
                <c:pt idx="0">
                  <c:v>1548</c:v>
                </c:pt>
                <c:pt idx="1">
                  <c:v>1551</c:v>
                </c:pt>
                <c:pt idx="2">
                  <c:v>1468</c:v>
                </c:pt>
                <c:pt idx="3">
                  <c:v>1643</c:v>
                </c:pt>
              </c:numCache>
            </c:numRef>
          </c:val>
        </c:ser>
        <c:ser>
          <c:idx val="2"/>
          <c:order val="2"/>
          <c:tx>
            <c:strRef>
              <c:f>Sheet1!$D$1</c:f>
              <c:strCache>
                <c:ptCount val="1"/>
                <c:pt idx="0">
                  <c:v>Metro</c:v>
                </c:pt>
              </c:strCache>
            </c:strRef>
          </c:tx>
          <c:spPr>
            <a:solidFill>
              <a:srgbClr val="C9A227"/>
            </a:solidFill>
            <a:effectLst/>
          </c:spPr>
          <c:invertIfNegative val="0"/>
          <c:dLbls>
            <c:numFmt formatCode="#,##0" sourceLinked="0"/>
            <c:txPr>
              <a:bodyPr/>
              <a:lstStyle/>
              <a:p>
                <a:pPr>
                  <a:defRPr b="0" i="0" strike="noStrike" sz="1100" u="none">
                    <a:solidFill>
                      <a:srgbClr val="21201D"/>
                    </a:solidFill>
                    <a:latin typeface="Calibri"/>
                  </a:defRPr>
                </a:pPr>
              </a:p>
            </c:txPr>
            <c:showLegendKey val="0"/>
            <c:showVal val="0"/>
            <c:showCatName val="0"/>
            <c:showSerName val="0"/>
            <c:showPercent val="0"/>
            <c:showBubbleSize val="0"/>
            <c:showLeaderLines val="0"/>
          </c:dLbls>
          <c:cat>
            <c:multiLvlStrRef>
              <c:f>Sheet1!$A$2:$A$5</c:f>
              <c:multiLvlStrCache>
                <c:ptCount val="4"/>
                <c:lvl>
                  <c:pt idx="0">
                    <c:v>Chicken</c:v>
                  </c:pt>
                  <c:pt idx="1">
                    <c:v>Vegetables</c:v>
                  </c:pt>
                  <c:pt idx="2">
                    <c:v>Dairy</c:v>
                  </c:pt>
                  <c:pt idx="3">
                    <c:v>Syrups</c:v>
                  </c:pt>
                </c:lvl>
              </c:multiLvlStrCache>
            </c:multiLvlStrRef>
          </c:cat>
          <c:val>
            <c:numRef>
              <c:f>Sheet1!$D$2:$D$5</c:f>
              <c:numCache>
                <c:formatCode>General</c:formatCode>
                <c:ptCount val="4"/>
                <c:pt idx="0">
                  <c:v>1621</c:v>
                </c:pt>
                <c:pt idx="1">
                  <c:v>1558</c:v>
                </c:pt>
                <c:pt idx="2">
                  <c:v>1657</c:v>
                </c:pt>
                <c:pt idx="3">
                  <c:v>1515</c:v>
                </c:pt>
              </c:numCache>
            </c:numRef>
          </c:val>
        </c:ser>
        <c:dLbls>
          <c:numFmt formatCode="#,##0" sourceLinked="0"/>
          <c:txPr>
            <a:bodyPr/>
            <a:lstStyle/>
            <a:p>
              <a:pPr>
                <a:defRPr b="0" i="0" strike="noStrike" sz="1100" u="none">
                  <a:solidFill>
                    <a:srgbClr val="21201D"/>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75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D5C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75C"/>
                </a:solidFill>
                <a:latin typeface="Calibri"/>
              </a:defRPr>
            </a:pPr>
            <a:endParaRPr lang="en-US"/>
          </a:p>
        </c:txPr>
        <c:crossAx val="2094734554"/>
        <c:crosses val="autoZero"/>
        <c:crossBetween val="between"/>
      </c:valAx>
      <c:spPr>
        <a:solidFill>
          <a:srgbClr val="F6F2EA"/>
        </a:solidFill>
        <a:ln>
          <a:noFill/>
        </a:ln>
        <a:effectLst/>
      </c:spPr>
    </c:plotArea>
    <c:legend>
      <c:legendPos val="b"/>
      <c:overlay val="0"/>
      <c:txPr>
        <a:bodyPr/>
        <a:lstStyle/>
        <a:p>
          <a:pPr>
            <a:defRPr sz="1100">
              <a:solidFill>
                <a:srgbClr val="6E675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Two years of sales data, five questions, five numbers.
What sells together. How much will sell. How much to make. When to reorder. Who to buy from.
Those four numbers on the right are where I end up. Let me show you how I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In plain terms.
Bundle the lollipops and wings. Make thirty-two pizzas instead of thirty. Hold sixty-nine units of spare stock. And buy in a specific pattern that costs fifteen point two lakh a week.
Each one replaces a guess with a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question: what do people buy together?
The tall bar is lollipops and wings. Three times more often than chance. That is a real habit.
The two short bars look tempting, but they are a trap. The pizza is in two out of three orders. It pairs with everything. That is popularity, not preference.
Only the first bar is worth acting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how this works.
Support is simply how often something happens. Confidence is the follow-on rate. And lift compares that follow-on rate against how often the second item sells anyway.
Lift above one means a real link. Below one, the two items compete.
I ignored anything appearing in fewer than one in twenty bills, so nothing here is a fluke.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changes.
At the till: offer the combo, but keep the discount small. Most of these customers were buying both anyway, so a deep discount pays for a sale I already had.
In the kitchen: one in five orders needs both items at the same time. Move the two fryer stations together. Same equipment, same cooking style. The change costs nothing.
And test both before committing.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question: how much cold coffee will we sell?
The lower line is the forecast. It settles around thirty-two cups a week.
The upper line is the best case, and notice it keeps climbing away. That gap is uncertainty. The further ahead I look, the less I know.
So I trust the first four weeks for ordering. Beyond that I plan for a range, not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forecast works, briefly.
Sales were trending, so instead of modelling the level I model the week-on-week change. Each week's forecast then leans on the week before it.
I tested nine versions. This one scored best without becoming complicated.
The last row is the important check. A good forecast should leave behind errors with no pattern left in them. At point eight nine three, this one passes comfortably.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where this forecast is weak.
It ignores summer. Cold coffee spikes every April to June, and this model cannot see yearly patterns.
Its range dips below zero, which is impossible.
And it leans heavily on the last week of data, which looks unusually low.
So I would use it to set weekly order sizes. I would not use it to decide today's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question: how many pizzas a day?
Look at the two bars. Wasting a pizza costs ninety rupees. Running out costs a hundred and forty in lost profit.
Running out hurts more. So the right move is to make slightly extra.
Average demand is thirty. The right target is thirty-two.
The two spare pizzas are not waste. They are the price of never turning a customer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thirty-two came out.
A pizza sells for two hundred and thirty and costs ninety to make. So running out loses a hundred and forty in profit, while wasting one loses ninety.
The balance point is a hundred and forty out of the two hundred and thirty at stake — about sixty-one per cent. That tells me how far above average to aim.
Average is twenty-nine point six. Nudged up, it becomes thirty-one point eight.
I round up, not down, because the more expensive mistake is making too few.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question: when do we reorder?
When stock falls to about a hundred and thirty-seven units, place an order. No judgement needed.
Sixty-nine of those units are spare cover. That protects us on busy days and when a supplier runs late.
This covers ninety-five per cent of situations. Pushing to ninety-nine costs far more money for very little extra safety.
One caveat, which I would raise myself. All six items need almost exactly the same buffer. Real menus rarely behave that neatly. I would check the data before automating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reorder point was set.
We aim to cover ninety-five per cent of situations — accepting we run short roughly one week in twenty. That target sets the multiplier of one point six four five.
Daily sales bounce around by about eight units, and deliveries are not always on time. Both feed into the spare cover of sixty-nine.
Add the sixty-eight units we will sell while waiting for delivery, and we reorder at a hundred and thirty-seven.
Pushing to ninety-nine per cent would tie up far more cash for very little extra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question: who do we buy from?
The short bars are Local Farm. Less than half the price of the other two, across every category.
So buy everything from them, obviously.
Except we cannot. They can only supply three hundred and fifty units, and we need twelve hundred.
Which changes the question entirely. It is not who is cheapest. It is where do we spend the cheap supply we can actually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and it is not the obvious one.
All three hundred and fifty units of Local Farm supply go to vegetables. None to chicken.
Why? Because vegetables is where Local Farm saves us the most per unit. Nine hundred and eleven rupees, against eight seventy-eight for chicken.
Chicken is the bigger order. But bigger is not the point. Biggest saving is.
Total bill: fifteen lakh fifteen thousand eight hundred and fifty a week. That is the cheapest possible.
And the real insight is in the last line. Local Farm is our bottleneck, not our price problem. Do not go and haggle with Metro. Go and ask Local Farm for more capacity. That is where the money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the supplier plan was solved.
There are twelve choices to make — three suppliers across four categories. Two rules apply. Every order must be filled exactly, and no supplier can be asked for more than they can deliver.
We need twelve hundred units against nineteen fifty available, so a solution exists.
Excel Solver tests every valid combination and returns the cheapest: fifteen lakh fifteen thousand eight hundred and fifty.
And the useful detail — Local Farm and City Central both end up fully used. Metro has room to spare. That tells us exactly who to go back and negotiate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changes, starting Monday.
Bundle the lollipops and wings, and move the fryers together.
Make thirty-two pizzas a day, and stop treating a little waste as a failure.
Reorder automatically at a hundred and thirty-seven units, once we have checked the data.
Give Local Farm the vegetable order, and ask them for more capacity.
And rebuild the forecast to handle summer before we rely on it.
None of this is complicated maths. What is unusual is doing it at all.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D"/>
        </a:solidFill>
      </p:bgPr>
    </p:bg>
    <p:spTree>
      <p:nvGrpSpPr>
        <p:cNvPr id="1" name=""/>
        <p:cNvGrpSpPr/>
        <p:nvPr/>
      </p:nvGrpSpPr>
      <p:grpSpPr>
        <a:xfrm>
          <a:off x="0" y="0"/>
          <a:ext cx="0" cy="0"/>
          <a:chOff x="0" y="0"/>
          <a:chExt cx="0" cy="0"/>
        </a:xfrm>
      </p:grpSpPr>
      <p:sp>
        <p:nvSpPr>
          <p:cNvPr id="2" name="Shape 0"/>
          <p:cNvSpPr/>
          <p:nvPr/>
        </p:nvSpPr>
        <p:spPr>
          <a:xfrm>
            <a:off x="8138160" y="1005840"/>
            <a:ext cx="3383280" cy="4846320"/>
          </a:xfrm>
          <a:prstGeom prst="roundRect">
            <a:avLst>
              <a:gd name="adj" fmla="val 1351"/>
            </a:avLst>
          </a:prstGeom>
          <a:solidFill>
            <a:srgbClr val="B04A2F"/>
          </a:solidFill>
          <a:ln w="12700">
            <a:solidFill>
              <a:srgbClr val="B04A2F"/>
            </a:solidFill>
            <a:prstDash val="solid"/>
          </a:ln>
        </p:spPr>
      </p:sp>
      <p:sp>
        <p:nvSpPr>
          <p:cNvPr id="3" name="Text 1"/>
          <p:cNvSpPr/>
          <p:nvPr/>
        </p:nvSpPr>
        <p:spPr>
          <a:xfrm>
            <a:off x="822960" y="1828800"/>
            <a:ext cx="6949440" cy="2011680"/>
          </a:xfrm>
          <a:prstGeom prst="rect">
            <a:avLst/>
          </a:prstGeom>
          <a:noFill/>
          <a:ln/>
        </p:spPr>
        <p:txBody>
          <a:bodyPr wrap="square" lIns="0" tIns="0" rIns="0" bIns="0" rtlCol="0" anchor="ctr"/>
          <a:lstStyle/>
          <a:p>
            <a:pPr indent="0" marL="0">
              <a:lnSpc>
                <a:spcPts val="5200"/>
              </a:lnSpc>
              <a:buNone/>
            </a:pPr>
            <a:r>
              <a:rPr lang="en-US" sz="4600" b="1" dirty="0">
                <a:solidFill>
                  <a:srgbClr val="F6F2EA"/>
                </a:solidFill>
                <a:latin typeface="Century Schoolbook" pitchFamily="34" charset="0"/>
                <a:ea typeface="Century Schoolbook" pitchFamily="34" charset="-122"/>
                <a:cs typeface="Century Schoolbook" pitchFamily="34" charset="-120"/>
              </a:rPr>
              <a:t>Five numbers that</a:t>
            </a:r>
            <a:endParaRPr lang="en-US" sz="4600" dirty="0"/>
          </a:p>
          <a:p>
            <a:pPr indent="0" marL="0">
              <a:lnSpc>
                <a:spcPts val="5200"/>
              </a:lnSpc>
              <a:buNone/>
            </a:pPr>
            <a:r>
              <a:rPr lang="en-US" sz="4600" b="1" dirty="0">
                <a:solidFill>
                  <a:srgbClr val="F6F2EA"/>
                </a:solidFill>
                <a:latin typeface="Century Schoolbook" pitchFamily="34" charset="0"/>
                <a:ea typeface="Century Schoolbook" pitchFamily="34" charset="-122"/>
                <a:cs typeface="Century Schoolbook" pitchFamily="34" charset="-120"/>
              </a:rPr>
              <a:t>run a restaurant</a:t>
            </a:r>
            <a:endParaRPr lang="en-US" sz="4600" dirty="0"/>
          </a:p>
        </p:txBody>
      </p:sp>
      <p:sp>
        <p:nvSpPr>
          <p:cNvPr id="4" name="Text 2"/>
          <p:cNvSpPr/>
          <p:nvPr/>
        </p:nvSpPr>
        <p:spPr>
          <a:xfrm>
            <a:off x="822960" y="3977640"/>
            <a:ext cx="6583680" cy="731520"/>
          </a:xfrm>
          <a:prstGeom prst="rect">
            <a:avLst/>
          </a:prstGeom>
          <a:noFill/>
          <a:ln/>
        </p:spPr>
        <p:txBody>
          <a:bodyPr wrap="square" lIns="0" tIns="0" rIns="0" bIns="0" rtlCol="0" anchor="ctr"/>
          <a:lstStyle/>
          <a:p>
            <a:pPr indent="0" marL="0">
              <a:lnSpc>
                <a:spcPts val="2400"/>
              </a:lnSpc>
              <a:buNone/>
            </a:pPr>
            <a:r>
              <a:rPr lang="en-US" sz="1500" dirty="0">
                <a:solidFill>
                  <a:srgbClr val="EDE6D9"/>
                </a:solidFill>
                <a:latin typeface="Calibri" pitchFamily="34" charset="0"/>
                <a:ea typeface="Calibri" pitchFamily="34" charset="-122"/>
                <a:cs typeface="Calibri" pitchFamily="34" charset="-120"/>
              </a:rPr>
              <a:t>Using two years of sales data to decide what to sell, how much to make, and who to buy from.</a:t>
            </a:r>
            <a:endParaRPr lang="en-US" sz="1500" dirty="0"/>
          </a:p>
        </p:txBody>
      </p:sp>
      <p:sp>
        <p:nvSpPr>
          <p:cNvPr id="5" name="Text 3"/>
          <p:cNvSpPr/>
          <p:nvPr/>
        </p:nvSpPr>
        <p:spPr>
          <a:xfrm>
            <a:off x="822960" y="5394960"/>
            <a:ext cx="6949440" cy="274320"/>
          </a:xfrm>
          <a:prstGeom prst="rect">
            <a:avLst/>
          </a:prstGeom>
          <a:noFill/>
          <a:ln/>
        </p:spPr>
        <p:txBody>
          <a:bodyPr wrap="square" lIns="0" tIns="0" rIns="0" bIns="0" rtlCol="0" anchor="ctr"/>
          <a:lstStyle/>
          <a:p>
            <a:pPr indent="0" marL="0">
              <a:buNone/>
            </a:pPr>
            <a:r>
              <a:rPr lang="en-US" sz="1200" dirty="0">
                <a:solidFill>
                  <a:srgbClr val="9C958A"/>
                </a:solidFill>
                <a:latin typeface="Calibri" pitchFamily="34" charset="0"/>
                <a:ea typeface="Calibri" pitchFamily="34" charset="-122"/>
                <a:cs typeface="Calibri" pitchFamily="34" charset="-120"/>
              </a:rPr>
              <a:t>Ankit Kumar Rai  ·  Operations Analytics I  ·  IIM Visakhapatnam</a:t>
            </a:r>
            <a:endParaRPr lang="en-US" sz="1200" dirty="0"/>
          </a:p>
        </p:txBody>
      </p:sp>
      <p:sp>
        <p:nvSpPr>
          <p:cNvPr id="6" name="Text 4"/>
          <p:cNvSpPr/>
          <p:nvPr/>
        </p:nvSpPr>
        <p:spPr>
          <a:xfrm>
            <a:off x="8595360" y="1737360"/>
            <a:ext cx="2560320" cy="3383280"/>
          </a:xfrm>
          <a:prstGeom prst="rect">
            <a:avLst/>
          </a:prstGeom>
          <a:noFill/>
          <a:ln/>
        </p:spPr>
        <p:txBody>
          <a:bodyPr wrap="square" lIns="0" tIns="0" rIns="0" bIns="0" rtlCol="0" anchor="ctr"/>
          <a:lstStyle/>
          <a:p>
            <a:pPr indent="0" marL="0">
              <a:lnSpc>
                <a:spcPts val="6200"/>
              </a:lnSpc>
              <a:buNone/>
            </a:pPr>
            <a:r>
              <a:rPr lang="en-US" sz="3400" b="1" dirty="0">
                <a:solidFill>
                  <a:srgbClr val="F6F2EA"/>
                </a:solidFill>
                <a:latin typeface="Century Schoolbook" pitchFamily="34" charset="0"/>
                <a:ea typeface="Century Schoolbook" pitchFamily="34" charset="-122"/>
                <a:cs typeface="Century Schoolbook" pitchFamily="34" charset="-120"/>
              </a:rPr>
              <a:t>3.15x</a:t>
            </a:r>
            <a:endParaRPr lang="en-US" sz="3400" dirty="0"/>
          </a:p>
          <a:p>
            <a:pPr indent="0" marL="0">
              <a:lnSpc>
                <a:spcPts val="6200"/>
              </a:lnSpc>
              <a:buNone/>
            </a:pPr>
            <a:r>
              <a:rPr lang="en-US" sz="3400" b="1" dirty="0">
                <a:solidFill>
                  <a:srgbClr val="F6F2EA"/>
                </a:solidFill>
                <a:latin typeface="Century Schoolbook" pitchFamily="34" charset="0"/>
                <a:ea typeface="Century Schoolbook" pitchFamily="34" charset="-122"/>
                <a:cs typeface="Century Schoolbook" pitchFamily="34" charset="-120"/>
              </a:rPr>
              <a:t>32</a:t>
            </a:r>
            <a:endParaRPr lang="en-US" sz="3400" dirty="0"/>
          </a:p>
          <a:p>
            <a:pPr indent="0" marL="0">
              <a:lnSpc>
                <a:spcPts val="6200"/>
              </a:lnSpc>
              <a:buNone/>
            </a:pPr>
            <a:r>
              <a:rPr lang="en-US" sz="3400" b="1" dirty="0">
                <a:solidFill>
                  <a:srgbClr val="F6F2EA"/>
                </a:solidFill>
                <a:latin typeface="Century Schoolbook" pitchFamily="34" charset="0"/>
                <a:ea typeface="Century Schoolbook" pitchFamily="34" charset="-122"/>
                <a:cs typeface="Century Schoolbook" pitchFamily="34" charset="-120"/>
              </a:rPr>
              <a:t>69</a:t>
            </a:r>
            <a:endParaRPr lang="en-US" sz="3400" dirty="0"/>
          </a:p>
          <a:p>
            <a:pPr indent="0" marL="0">
              <a:lnSpc>
                <a:spcPts val="6200"/>
              </a:lnSpc>
              <a:buNone/>
            </a:pPr>
            <a:r>
              <a:rPr lang="en-US" sz="3400" b="1" dirty="0">
                <a:solidFill>
                  <a:srgbClr val="F6F2EA"/>
                </a:solidFill>
                <a:latin typeface="Century Schoolbook" pitchFamily="34" charset="0"/>
                <a:ea typeface="Century Schoolbook" pitchFamily="34" charset="-122"/>
                <a:cs typeface="Century Schoolbook" pitchFamily="34" charset="-120"/>
              </a:rPr>
              <a:t>₹15.2L</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02</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THE SHORT VERSION</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Four decisions, backed by numbers</a:t>
            </a:r>
            <a:endParaRPr lang="en-US" sz="3000" dirty="0"/>
          </a:p>
        </p:txBody>
      </p:sp>
      <p:sp>
        <p:nvSpPr>
          <p:cNvPr id="5" name="Shape 3"/>
          <p:cNvSpPr/>
          <p:nvPr/>
        </p:nvSpPr>
        <p:spPr>
          <a:xfrm>
            <a:off x="640080" y="1600200"/>
            <a:ext cx="10881360" cy="1024128"/>
          </a:xfrm>
          <a:prstGeom prst="roundRect">
            <a:avLst>
              <a:gd name="adj" fmla="val 4464"/>
            </a:avLst>
          </a:prstGeom>
          <a:solidFill>
            <a:srgbClr val="EDE6D9"/>
          </a:solidFill>
          <a:ln w="12700">
            <a:solidFill>
              <a:srgbClr val="EDE6D9"/>
            </a:solidFill>
            <a:prstDash val="solid"/>
          </a:ln>
        </p:spPr>
      </p:sp>
      <p:sp>
        <p:nvSpPr>
          <p:cNvPr id="6" name="Text 4"/>
          <p:cNvSpPr/>
          <p:nvPr/>
        </p:nvSpPr>
        <p:spPr>
          <a:xfrm>
            <a:off x="1005840" y="1837944"/>
            <a:ext cx="2011680" cy="548640"/>
          </a:xfrm>
          <a:prstGeom prst="rect">
            <a:avLst/>
          </a:prstGeom>
          <a:noFill/>
          <a:ln/>
        </p:spPr>
        <p:txBody>
          <a:bodyPr wrap="square" lIns="0" tIns="0" rIns="0" bIns="0" rtlCol="0" anchor="ctr"/>
          <a:lstStyle/>
          <a:p>
            <a:pPr indent="0" marL="0">
              <a:buNone/>
            </a:pPr>
            <a:r>
              <a:rPr lang="en-US" sz="2800" b="1" dirty="0">
                <a:solidFill>
                  <a:srgbClr val="B04A2F"/>
                </a:solidFill>
                <a:latin typeface="Century Schoolbook" pitchFamily="34" charset="0"/>
                <a:ea typeface="Century Schoolbook" pitchFamily="34" charset="-122"/>
                <a:cs typeface="Century Schoolbook" pitchFamily="34" charset="-120"/>
              </a:rPr>
              <a:t>3.15x</a:t>
            </a:r>
            <a:endParaRPr lang="en-US" sz="2800" dirty="0"/>
          </a:p>
        </p:txBody>
      </p:sp>
      <p:sp>
        <p:nvSpPr>
          <p:cNvPr id="7" name="Text 5"/>
          <p:cNvSpPr/>
          <p:nvPr/>
        </p:nvSpPr>
        <p:spPr>
          <a:xfrm>
            <a:off x="3291840" y="1819656"/>
            <a:ext cx="7863840" cy="640080"/>
          </a:xfrm>
          <a:prstGeom prst="rect">
            <a:avLst/>
          </a:prstGeom>
          <a:noFill/>
          <a:ln/>
        </p:spPr>
        <p:txBody>
          <a:bodyPr wrap="square" lIns="0" tIns="0" rIns="0" bIns="0" rtlCol="0" anchor="ctr"/>
          <a:lstStyle/>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Customers who order lollipops are 3x more likely</a:t>
            </a:r>
            <a:endParaRPr lang="en-US" sz="1400" dirty="0"/>
          </a:p>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to add wings. Bundle them.</a:t>
            </a:r>
            <a:endParaRPr lang="en-US" sz="1400" dirty="0"/>
          </a:p>
        </p:txBody>
      </p:sp>
      <p:sp>
        <p:nvSpPr>
          <p:cNvPr id="8" name="Shape 6"/>
          <p:cNvSpPr/>
          <p:nvPr/>
        </p:nvSpPr>
        <p:spPr>
          <a:xfrm>
            <a:off x="640080" y="2770632"/>
            <a:ext cx="10881360" cy="1024128"/>
          </a:xfrm>
          <a:prstGeom prst="roundRect">
            <a:avLst>
              <a:gd name="adj" fmla="val 4464"/>
            </a:avLst>
          </a:prstGeom>
          <a:solidFill>
            <a:srgbClr val="EDE6D9"/>
          </a:solidFill>
          <a:ln w="12700">
            <a:solidFill>
              <a:srgbClr val="EDE6D9"/>
            </a:solidFill>
            <a:prstDash val="solid"/>
          </a:ln>
        </p:spPr>
      </p:sp>
      <p:sp>
        <p:nvSpPr>
          <p:cNvPr id="9" name="Text 7"/>
          <p:cNvSpPr/>
          <p:nvPr/>
        </p:nvSpPr>
        <p:spPr>
          <a:xfrm>
            <a:off x="1005840" y="3008376"/>
            <a:ext cx="2011680" cy="548640"/>
          </a:xfrm>
          <a:prstGeom prst="rect">
            <a:avLst/>
          </a:prstGeom>
          <a:noFill/>
          <a:ln/>
        </p:spPr>
        <p:txBody>
          <a:bodyPr wrap="square" lIns="0" tIns="0" rIns="0" bIns="0" rtlCol="0" anchor="ctr"/>
          <a:lstStyle/>
          <a:p>
            <a:pPr indent="0" marL="0">
              <a:buNone/>
            </a:pPr>
            <a:r>
              <a:rPr lang="en-US" sz="2800" b="1" dirty="0">
                <a:solidFill>
                  <a:srgbClr val="B04A2F"/>
                </a:solidFill>
                <a:latin typeface="Century Schoolbook" pitchFamily="34" charset="0"/>
                <a:ea typeface="Century Schoolbook" pitchFamily="34" charset="-122"/>
                <a:cs typeface="Century Schoolbook" pitchFamily="34" charset="-120"/>
              </a:rPr>
              <a:t>32</a:t>
            </a:r>
            <a:endParaRPr lang="en-US" sz="2800" dirty="0"/>
          </a:p>
        </p:txBody>
      </p:sp>
      <p:sp>
        <p:nvSpPr>
          <p:cNvPr id="10" name="Text 8"/>
          <p:cNvSpPr/>
          <p:nvPr/>
        </p:nvSpPr>
        <p:spPr>
          <a:xfrm>
            <a:off x="3291840" y="2990088"/>
            <a:ext cx="7863840" cy="640080"/>
          </a:xfrm>
          <a:prstGeom prst="rect">
            <a:avLst/>
          </a:prstGeom>
          <a:noFill/>
          <a:ln/>
        </p:spPr>
        <p:txBody>
          <a:bodyPr wrap="square" lIns="0" tIns="0" rIns="0" bIns="0" rtlCol="0" anchor="ctr"/>
          <a:lstStyle/>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Make 32 pizzas a day, not 30. Running out</a:t>
            </a:r>
            <a:endParaRPr lang="en-US" sz="1400" dirty="0"/>
          </a:p>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costs more than throwing away.</a:t>
            </a:r>
            <a:endParaRPr lang="en-US" sz="1400" dirty="0"/>
          </a:p>
        </p:txBody>
      </p:sp>
      <p:sp>
        <p:nvSpPr>
          <p:cNvPr id="11" name="Shape 9"/>
          <p:cNvSpPr/>
          <p:nvPr/>
        </p:nvSpPr>
        <p:spPr>
          <a:xfrm>
            <a:off x="640080" y="3941064"/>
            <a:ext cx="10881360" cy="1024128"/>
          </a:xfrm>
          <a:prstGeom prst="roundRect">
            <a:avLst>
              <a:gd name="adj" fmla="val 4464"/>
            </a:avLst>
          </a:prstGeom>
          <a:solidFill>
            <a:srgbClr val="EDE6D9"/>
          </a:solidFill>
          <a:ln w="12700">
            <a:solidFill>
              <a:srgbClr val="EDE6D9"/>
            </a:solidFill>
            <a:prstDash val="solid"/>
          </a:ln>
        </p:spPr>
      </p:sp>
      <p:sp>
        <p:nvSpPr>
          <p:cNvPr id="12" name="Text 10"/>
          <p:cNvSpPr/>
          <p:nvPr/>
        </p:nvSpPr>
        <p:spPr>
          <a:xfrm>
            <a:off x="1005840" y="4178808"/>
            <a:ext cx="2011680" cy="548640"/>
          </a:xfrm>
          <a:prstGeom prst="rect">
            <a:avLst/>
          </a:prstGeom>
          <a:noFill/>
          <a:ln/>
        </p:spPr>
        <p:txBody>
          <a:bodyPr wrap="square" lIns="0" tIns="0" rIns="0" bIns="0" rtlCol="0" anchor="ctr"/>
          <a:lstStyle/>
          <a:p>
            <a:pPr indent="0" marL="0">
              <a:buNone/>
            </a:pPr>
            <a:r>
              <a:rPr lang="en-US" sz="2800" b="1" dirty="0">
                <a:solidFill>
                  <a:srgbClr val="B04A2F"/>
                </a:solidFill>
                <a:latin typeface="Century Schoolbook" pitchFamily="34" charset="0"/>
                <a:ea typeface="Century Schoolbook" pitchFamily="34" charset="-122"/>
                <a:cs typeface="Century Schoolbook" pitchFamily="34" charset="-120"/>
              </a:rPr>
              <a:t>69</a:t>
            </a:r>
            <a:endParaRPr lang="en-US" sz="2800" dirty="0"/>
          </a:p>
        </p:txBody>
      </p:sp>
      <p:sp>
        <p:nvSpPr>
          <p:cNvPr id="13" name="Text 11"/>
          <p:cNvSpPr/>
          <p:nvPr/>
        </p:nvSpPr>
        <p:spPr>
          <a:xfrm>
            <a:off x="3291840" y="4160520"/>
            <a:ext cx="7863840" cy="640080"/>
          </a:xfrm>
          <a:prstGeom prst="rect">
            <a:avLst/>
          </a:prstGeom>
          <a:noFill/>
          <a:ln/>
        </p:spPr>
        <p:txBody>
          <a:bodyPr wrap="square" lIns="0" tIns="0" rIns="0" bIns="0" rtlCol="0" anchor="ctr"/>
          <a:lstStyle/>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Keep 69 units spare. That covers 95% of</a:t>
            </a:r>
            <a:endParaRPr lang="en-US" sz="1400" dirty="0"/>
          </a:p>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busy days and late deliveries.</a:t>
            </a:r>
            <a:endParaRPr lang="en-US" sz="1400" dirty="0"/>
          </a:p>
        </p:txBody>
      </p:sp>
      <p:sp>
        <p:nvSpPr>
          <p:cNvPr id="14" name="Shape 12"/>
          <p:cNvSpPr/>
          <p:nvPr/>
        </p:nvSpPr>
        <p:spPr>
          <a:xfrm>
            <a:off x="640080" y="5111496"/>
            <a:ext cx="10881360" cy="1024128"/>
          </a:xfrm>
          <a:prstGeom prst="roundRect">
            <a:avLst>
              <a:gd name="adj" fmla="val 4464"/>
            </a:avLst>
          </a:prstGeom>
          <a:solidFill>
            <a:srgbClr val="EDE6D9"/>
          </a:solidFill>
          <a:ln w="12700">
            <a:solidFill>
              <a:srgbClr val="EDE6D9"/>
            </a:solidFill>
            <a:prstDash val="solid"/>
          </a:ln>
        </p:spPr>
      </p:sp>
      <p:sp>
        <p:nvSpPr>
          <p:cNvPr id="15" name="Text 13"/>
          <p:cNvSpPr/>
          <p:nvPr/>
        </p:nvSpPr>
        <p:spPr>
          <a:xfrm>
            <a:off x="1005840" y="5349240"/>
            <a:ext cx="2011680" cy="548640"/>
          </a:xfrm>
          <a:prstGeom prst="rect">
            <a:avLst/>
          </a:prstGeom>
          <a:noFill/>
          <a:ln/>
        </p:spPr>
        <p:txBody>
          <a:bodyPr wrap="square" lIns="0" tIns="0" rIns="0" bIns="0" rtlCol="0" anchor="ctr"/>
          <a:lstStyle/>
          <a:p>
            <a:pPr indent="0" marL="0">
              <a:buNone/>
            </a:pPr>
            <a:r>
              <a:rPr lang="en-US" sz="2800" b="1" dirty="0">
                <a:solidFill>
                  <a:srgbClr val="B04A2F"/>
                </a:solidFill>
                <a:latin typeface="Century Schoolbook" pitchFamily="34" charset="0"/>
                <a:ea typeface="Century Schoolbook" pitchFamily="34" charset="-122"/>
                <a:cs typeface="Century Schoolbook" pitchFamily="34" charset="-120"/>
              </a:rPr>
              <a:t>₹15.2L</a:t>
            </a:r>
            <a:endParaRPr lang="en-US" sz="2800" dirty="0"/>
          </a:p>
        </p:txBody>
      </p:sp>
      <p:sp>
        <p:nvSpPr>
          <p:cNvPr id="16" name="Text 14"/>
          <p:cNvSpPr/>
          <p:nvPr/>
        </p:nvSpPr>
        <p:spPr>
          <a:xfrm>
            <a:off x="3291840" y="5330952"/>
            <a:ext cx="7863840" cy="640080"/>
          </a:xfrm>
          <a:prstGeom prst="rect">
            <a:avLst/>
          </a:prstGeom>
          <a:noFill/>
          <a:ln/>
        </p:spPr>
        <p:txBody>
          <a:bodyPr wrap="square" lIns="0" tIns="0" rIns="0" bIns="0" rtlCol="0" anchor="ctr"/>
          <a:lstStyle/>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The cheapest possible weekly supplier bill,</a:t>
            </a:r>
            <a:endParaRPr lang="en-US" sz="1400" dirty="0"/>
          </a:p>
          <a:p>
            <a:pPr indent="0" marL="0">
              <a:lnSpc>
                <a:spcPts val="2000"/>
              </a:lnSpc>
              <a:buNone/>
            </a:pPr>
            <a:r>
              <a:rPr lang="en-US" sz="1400" dirty="0">
                <a:solidFill>
                  <a:srgbClr val="3A3730"/>
                </a:solidFill>
                <a:latin typeface="Calibri" pitchFamily="34" charset="0"/>
                <a:ea typeface="Calibri" pitchFamily="34" charset="-122"/>
                <a:cs typeface="Calibri" pitchFamily="34" charset="-120"/>
              </a:rPr>
              <a:t>given how much each one can deliver.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03</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1</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What do people buy together?</a:t>
            </a:r>
            <a:endParaRPr lang="en-US" sz="3000" dirty="0"/>
          </a:p>
        </p:txBody>
      </p:sp>
      <p:graphicFrame>
        <p:nvGraphicFramePr>
          <p:cNvPr id="5" name="Chart 0" descr=""/>
          <p:cNvGraphicFramePr/>
          <p:nvPr/>
        </p:nvGraphicFramePr>
        <p:xfrm>
          <a:off x="640080" y="1554480"/>
          <a:ext cx="585216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5623560"/>
            <a:ext cx="5852160" cy="274320"/>
          </a:xfrm>
          <a:prstGeom prst="rect">
            <a:avLst/>
          </a:prstGeom>
          <a:noFill/>
          <a:ln/>
        </p:spPr>
        <p:txBody>
          <a:bodyPr wrap="square" lIns="0" tIns="0" rIns="0" bIns="0" rtlCol="0" anchor="ctr"/>
          <a:lstStyle/>
          <a:p>
            <a:pPr indent="0" marL="0">
              <a:buNone/>
            </a:pPr>
            <a:r>
              <a:rPr lang="en-US" sz="1100" i="1" dirty="0">
                <a:solidFill>
                  <a:srgbClr val="6E675C"/>
                </a:solidFill>
                <a:latin typeface="Calibri" pitchFamily="34" charset="0"/>
                <a:ea typeface="Calibri" pitchFamily="34" charset="-122"/>
                <a:cs typeface="Calibri" pitchFamily="34" charset="-120"/>
              </a:rPr>
              <a:t>Higher bar = stronger real link</a:t>
            </a:r>
            <a:endParaRPr lang="en-US" sz="1100" dirty="0"/>
          </a:p>
        </p:txBody>
      </p:sp>
      <p:sp>
        <p:nvSpPr>
          <p:cNvPr id="7" name="Shape 4"/>
          <p:cNvSpPr/>
          <p:nvPr/>
        </p:nvSpPr>
        <p:spPr>
          <a:xfrm>
            <a:off x="6858000" y="1554480"/>
            <a:ext cx="4663440" cy="4023360"/>
          </a:xfrm>
          <a:prstGeom prst="roundRect">
            <a:avLst>
              <a:gd name="adj" fmla="val 1136"/>
            </a:avLst>
          </a:prstGeom>
          <a:solidFill>
            <a:srgbClr val="EDE6D9"/>
          </a:solidFill>
          <a:ln w="12700">
            <a:solidFill>
              <a:srgbClr val="EDE6D9"/>
            </a:solidFill>
            <a:prstDash val="solid"/>
          </a:ln>
        </p:spPr>
      </p:sp>
      <p:sp>
        <p:nvSpPr>
          <p:cNvPr id="8" name="Text 5"/>
          <p:cNvSpPr/>
          <p:nvPr/>
        </p:nvSpPr>
        <p:spPr>
          <a:xfrm>
            <a:off x="7223760" y="1828800"/>
            <a:ext cx="3931920" cy="365760"/>
          </a:xfrm>
          <a:prstGeom prst="rect">
            <a:avLst/>
          </a:prstGeom>
          <a:noFill/>
          <a:ln/>
        </p:spPr>
        <p:txBody>
          <a:bodyPr wrap="square" lIns="0" tIns="0" rIns="0" bIns="0" rtlCol="0" anchor="ctr"/>
          <a:lstStyle/>
          <a:p>
            <a:pPr indent="0" marL="0">
              <a:buNone/>
            </a:pPr>
            <a:r>
              <a:rPr lang="en-US" sz="2000" b="1" dirty="0">
                <a:solidFill>
                  <a:srgbClr val="21201D"/>
                </a:solidFill>
                <a:latin typeface="Century Schoolbook" pitchFamily="34" charset="0"/>
                <a:ea typeface="Century Schoolbook" pitchFamily="34" charset="-122"/>
                <a:cs typeface="Century Schoolbook" pitchFamily="34" charset="-120"/>
              </a:rPr>
              <a:t>Only one pair is real</a:t>
            </a:r>
            <a:endParaRPr lang="en-US" sz="2000" dirty="0"/>
          </a:p>
        </p:txBody>
      </p:sp>
      <p:sp>
        <p:nvSpPr>
          <p:cNvPr id="9" name="Text 6"/>
          <p:cNvSpPr/>
          <p:nvPr/>
        </p:nvSpPr>
        <p:spPr>
          <a:xfrm>
            <a:off x="7223760" y="2331720"/>
            <a:ext cx="393192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Lollipop and wings sell together 3x more than chance. That's a genuine habit.</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The pizza pairs look strong, but the pizza is in 2 of every 3 orders anyway — it pairs with everything.</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So the pizza links are just popularity, not preference.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04</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The Apriori method, in three numbers</a:t>
            </a:r>
            <a:endParaRPr lang="en-US" sz="3000" dirty="0"/>
          </a:p>
        </p:txBody>
      </p:sp>
      <p:sp>
        <p:nvSpPr>
          <p:cNvPr id="5" name="Shape 3"/>
          <p:cNvSpPr/>
          <p:nvPr/>
        </p:nvSpPr>
        <p:spPr>
          <a:xfrm>
            <a:off x="640080" y="1554480"/>
            <a:ext cx="10881360" cy="777240"/>
          </a:xfrm>
          <a:prstGeom prst="roundRect">
            <a:avLst>
              <a:gd name="adj" fmla="val 5882"/>
            </a:avLst>
          </a:prstGeom>
          <a:solidFill>
            <a:srgbClr val="21201D"/>
          </a:solidFill>
          <a:ln w="12700">
            <a:solidFill>
              <a:srgbClr val="21201D"/>
            </a:solidFill>
            <a:prstDash val="solid"/>
          </a:ln>
        </p:spPr>
      </p:sp>
      <p:sp>
        <p:nvSpPr>
          <p:cNvPr id="6" name="Text 4"/>
          <p:cNvSpPr/>
          <p:nvPr/>
        </p:nvSpPr>
        <p:spPr>
          <a:xfrm>
            <a:off x="1005840" y="1737360"/>
            <a:ext cx="10149840" cy="411480"/>
          </a:xfrm>
          <a:prstGeom prst="rect">
            <a:avLst/>
          </a:prstGeom>
          <a:noFill/>
          <a:ln/>
        </p:spPr>
        <p:txBody>
          <a:bodyPr wrap="square" lIns="0" tIns="0" rIns="0" bIns="0" rtlCol="0" anchor="ctr"/>
          <a:lstStyle/>
          <a:p>
            <a:pPr indent="0" marL="0">
              <a:buNone/>
            </a:pPr>
            <a:r>
              <a:rPr lang="en-US" sz="1800" b="1" dirty="0">
                <a:solidFill>
                  <a:srgbClr val="F6F2EA"/>
                </a:solidFill>
                <a:latin typeface="Century Schoolbook" pitchFamily="34" charset="0"/>
                <a:ea typeface="Century Schoolbook" pitchFamily="34" charset="-122"/>
                <a:cs typeface="Century Schoolbook" pitchFamily="34" charset="-120"/>
              </a:rPr>
              <a:t>Lift  =  Confidence ÷ how often the second item sells on its own</a:t>
            </a:r>
            <a:endParaRPr lang="en-US" sz="1800" dirty="0"/>
          </a:p>
        </p:txBody>
      </p:sp>
      <p:sp>
        <p:nvSpPr>
          <p:cNvPr id="7" name="Shape 5"/>
          <p:cNvSpPr/>
          <p:nvPr/>
        </p:nvSpPr>
        <p:spPr>
          <a:xfrm>
            <a:off x="640080" y="2542032"/>
            <a:ext cx="10881360" cy="603504"/>
          </a:xfrm>
          <a:prstGeom prst="roundRect">
            <a:avLst>
              <a:gd name="adj" fmla="val 7576"/>
            </a:avLst>
          </a:prstGeom>
          <a:solidFill>
            <a:srgbClr val="EDE6D9"/>
          </a:solidFill>
          <a:ln w="12700">
            <a:solidFill>
              <a:srgbClr val="EDE6D9"/>
            </a:solidFill>
            <a:prstDash val="solid"/>
          </a:ln>
        </p:spPr>
      </p:sp>
      <p:sp>
        <p:nvSpPr>
          <p:cNvPr id="8" name="Text 6"/>
          <p:cNvSpPr/>
          <p:nvPr/>
        </p:nvSpPr>
        <p:spPr>
          <a:xfrm>
            <a:off x="1005840" y="2697480"/>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Support</a:t>
            </a:r>
            <a:endParaRPr lang="en-US" sz="1500" dirty="0"/>
          </a:p>
        </p:txBody>
      </p:sp>
      <p:sp>
        <p:nvSpPr>
          <p:cNvPr id="9" name="Text 7"/>
          <p:cNvSpPr/>
          <p:nvPr/>
        </p:nvSpPr>
        <p:spPr>
          <a:xfrm>
            <a:off x="3749040" y="2706624"/>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0.2142</a:t>
            </a:r>
            <a:endParaRPr lang="en-US" sz="1500" dirty="0"/>
          </a:p>
        </p:txBody>
      </p:sp>
      <p:sp>
        <p:nvSpPr>
          <p:cNvPr id="10" name="Text 8"/>
          <p:cNvSpPr/>
          <p:nvPr/>
        </p:nvSpPr>
        <p:spPr>
          <a:xfrm>
            <a:off x="5852160" y="2715768"/>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The pair shows up in 21% of all bills</a:t>
            </a:r>
            <a:endParaRPr lang="en-US" sz="1350" dirty="0"/>
          </a:p>
        </p:txBody>
      </p:sp>
      <p:sp>
        <p:nvSpPr>
          <p:cNvPr id="11" name="Shape 9"/>
          <p:cNvSpPr/>
          <p:nvPr/>
        </p:nvSpPr>
        <p:spPr>
          <a:xfrm>
            <a:off x="640080" y="3255264"/>
            <a:ext cx="10881360" cy="603504"/>
          </a:xfrm>
          <a:prstGeom prst="roundRect">
            <a:avLst>
              <a:gd name="adj" fmla="val 7576"/>
            </a:avLst>
          </a:prstGeom>
          <a:solidFill>
            <a:srgbClr val="EDE6D9"/>
          </a:solidFill>
          <a:ln w="12700">
            <a:solidFill>
              <a:srgbClr val="EDE6D9"/>
            </a:solidFill>
            <a:prstDash val="solid"/>
          </a:ln>
        </p:spPr>
      </p:sp>
      <p:sp>
        <p:nvSpPr>
          <p:cNvPr id="12" name="Text 10"/>
          <p:cNvSpPr/>
          <p:nvPr/>
        </p:nvSpPr>
        <p:spPr>
          <a:xfrm>
            <a:off x="1005840" y="3410712"/>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Confidence</a:t>
            </a:r>
            <a:endParaRPr lang="en-US" sz="1500" dirty="0"/>
          </a:p>
        </p:txBody>
      </p:sp>
      <p:sp>
        <p:nvSpPr>
          <p:cNvPr id="13" name="Text 11"/>
          <p:cNvSpPr/>
          <p:nvPr/>
        </p:nvSpPr>
        <p:spPr>
          <a:xfrm>
            <a:off x="3749040" y="3419856"/>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0.8219</a:t>
            </a:r>
            <a:endParaRPr lang="en-US" sz="1500" dirty="0"/>
          </a:p>
        </p:txBody>
      </p:sp>
      <p:sp>
        <p:nvSpPr>
          <p:cNvPr id="14" name="Text 12"/>
          <p:cNvSpPr/>
          <p:nvPr/>
        </p:nvSpPr>
        <p:spPr>
          <a:xfrm>
            <a:off x="5852160" y="3429000"/>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Order a lollipop, and 82% of the time wings follow</a:t>
            </a:r>
            <a:endParaRPr lang="en-US" sz="1350" dirty="0"/>
          </a:p>
        </p:txBody>
      </p:sp>
      <p:sp>
        <p:nvSpPr>
          <p:cNvPr id="15" name="Shape 13"/>
          <p:cNvSpPr/>
          <p:nvPr/>
        </p:nvSpPr>
        <p:spPr>
          <a:xfrm>
            <a:off x="640080" y="3968496"/>
            <a:ext cx="10881360" cy="603504"/>
          </a:xfrm>
          <a:prstGeom prst="roundRect">
            <a:avLst>
              <a:gd name="adj" fmla="val 7576"/>
            </a:avLst>
          </a:prstGeom>
          <a:solidFill>
            <a:srgbClr val="EDE6D9"/>
          </a:solidFill>
          <a:ln w="12700">
            <a:solidFill>
              <a:srgbClr val="EDE6D9"/>
            </a:solidFill>
            <a:prstDash val="solid"/>
          </a:ln>
        </p:spPr>
      </p:sp>
      <p:sp>
        <p:nvSpPr>
          <p:cNvPr id="16" name="Text 14"/>
          <p:cNvSpPr/>
          <p:nvPr/>
        </p:nvSpPr>
        <p:spPr>
          <a:xfrm>
            <a:off x="1005840" y="4123944"/>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Lift</a:t>
            </a:r>
            <a:endParaRPr lang="en-US" sz="1500" dirty="0"/>
          </a:p>
        </p:txBody>
      </p:sp>
      <p:sp>
        <p:nvSpPr>
          <p:cNvPr id="17" name="Text 15"/>
          <p:cNvSpPr/>
          <p:nvPr/>
        </p:nvSpPr>
        <p:spPr>
          <a:xfrm>
            <a:off x="3749040" y="4133088"/>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3.15</a:t>
            </a:r>
            <a:endParaRPr lang="en-US" sz="1500" dirty="0"/>
          </a:p>
        </p:txBody>
      </p:sp>
      <p:sp>
        <p:nvSpPr>
          <p:cNvPr id="18" name="Text 16"/>
          <p:cNvSpPr/>
          <p:nvPr/>
        </p:nvSpPr>
        <p:spPr>
          <a:xfrm>
            <a:off x="5852160" y="4142232"/>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3.15 times more likely than random chance</a:t>
            </a:r>
            <a:endParaRPr lang="en-US" sz="1350" dirty="0"/>
          </a:p>
        </p:txBody>
      </p:sp>
      <p:sp>
        <p:nvSpPr>
          <p:cNvPr id="19" name="Shape 17"/>
          <p:cNvSpPr/>
          <p:nvPr/>
        </p:nvSpPr>
        <p:spPr>
          <a:xfrm>
            <a:off x="640080" y="4681728"/>
            <a:ext cx="10881360" cy="603504"/>
          </a:xfrm>
          <a:prstGeom prst="roundRect">
            <a:avLst>
              <a:gd name="adj" fmla="val 7576"/>
            </a:avLst>
          </a:prstGeom>
          <a:solidFill>
            <a:srgbClr val="EDE6D9"/>
          </a:solidFill>
          <a:ln w="12700">
            <a:solidFill>
              <a:srgbClr val="EDE6D9"/>
            </a:solidFill>
            <a:prstDash val="solid"/>
          </a:ln>
        </p:spPr>
      </p:sp>
      <p:sp>
        <p:nvSpPr>
          <p:cNvPr id="20" name="Text 18"/>
          <p:cNvSpPr/>
          <p:nvPr/>
        </p:nvSpPr>
        <p:spPr>
          <a:xfrm>
            <a:off x="1005840" y="4837176"/>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Cut-off used</a:t>
            </a:r>
            <a:endParaRPr lang="en-US" sz="1500" dirty="0"/>
          </a:p>
        </p:txBody>
      </p:sp>
      <p:sp>
        <p:nvSpPr>
          <p:cNvPr id="21" name="Text 19"/>
          <p:cNvSpPr/>
          <p:nvPr/>
        </p:nvSpPr>
        <p:spPr>
          <a:xfrm>
            <a:off x="3749040" y="4846320"/>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5852160" y="4855464"/>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Pairs appearing in fewer than 1 in 20 bills were ignored</a:t>
            </a:r>
            <a:endParaRPr lang="en-US" sz="1350" dirty="0"/>
          </a:p>
        </p:txBody>
      </p:sp>
      <p:sp>
        <p:nvSpPr>
          <p:cNvPr id="23" name="Text 21"/>
          <p:cNvSpPr/>
          <p:nvPr/>
        </p:nvSpPr>
        <p:spPr>
          <a:xfrm>
            <a:off x="640080" y="5559552"/>
            <a:ext cx="10881360" cy="365760"/>
          </a:xfrm>
          <a:prstGeom prst="rect">
            <a:avLst/>
          </a:prstGeom>
          <a:noFill/>
          <a:ln/>
        </p:spPr>
        <p:txBody>
          <a:bodyPr wrap="square" lIns="0" tIns="0" rIns="0" bIns="0" rtlCol="0" anchor="ctr"/>
          <a:lstStyle/>
          <a:p>
            <a:pPr indent="0" marL="0">
              <a:buNone/>
            </a:pPr>
            <a:r>
              <a:rPr lang="en-US" sz="1350" i="1" dirty="0">
                <a:solidFill>
                  <a:srgbClr val="6E675C"/>
                </a:solidFill>
                <a:latin typeface="Calibri" pitchFamily="34" charset="0"/>
                <a:ea typeface="Calibri" pitchFamily="34" charset="-122"/>
                <a:cs typeface="Calibri" pitchFamily="34" charset="-120"/>
              </a:rPr>
              <a:t>Lift above 1 means a real link. Below 1 means the two items actually compete.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05</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1 — WHAT TO DO</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Two changes, one free</a:t>
            </a:r>
            <a:endParaRPr lang="en-US" sz="3000" dirty="0"/>
          </a:p>
        </p:txBody>
      </p:sp>
      <p:sp>
        <p:nvSpPr>
          <p:cNvPr id="5" name="Shape 3"/>
          <p:cNvSpPr/>
          <p:nvPr/>
        </p:nvSpPr>
        <p:spPr>
          <a:xfrm>
            <a:off x="640080" y="1600200"/>
            <a:ext cx="5349240" cy="3200400"/>
          </a:xfrm>
          <a:prstGeom prst="roundRect">
            <a:avLst>
              <a:gd name="adj" fmla="val 1429"/>
            </a:avLst>
          </a:prstGeom>
          <a:solidFill>
            <a:srgbClr val="EDE6D9"/>
          </a:solidFill>
          <a:ln w="12700">
            <a:solidFill>
              <a:srgbClr val="EDE6D9"/>
            </a:solidFill>
            <a:prstDash val="solid"/>
          </a:ln>
        </p:spPr>
      </p:sp>
      <p:sp>
        <p:nvSpPr>
          <p:cNvPr id="6" name="Text 4"/>
          <p:cNvSpPr/>
          <p:nvPr/>
        </p:nvSpPr>
        <p:spPr>
          <a:xfrm>
            <a:off x="1005840" y="1874520"/>
            <a:ext cx="4572000" cy="365760"/>
          </a:xfrm>
          <a:prstGeom prst="rect">
            <a:avLst/>
          </a:prstGeom>
          <a:noFill/>
          <a:ln/>
        </p:spPr>
        <p:txBody>
          <a:bodyPr wrap="square" lIns="0" tIns="0" rIns="0" bIns="0" rtlCol="0" anchor="ctr"/>
          <a:lstStyle/>
          <a:p>
            <a:pPr indent="0" marL="0">
              <a:buNone/>
            </a:pPr>
            <a:r>
              <a:rPr lang="en-US" sz="2200" b="1" dirty="0">
                <a:solidFill>
                  <a:srgbClr val="B04A2F"/>
                </a:solidFill>
                <a:latin typeface="Century Schoolbook" pitchFamily="34" charset="0"/>
                <a:ea typeface="Century Schoolbook" pitchFamily="34" charset="-122"/>
                <a:cs typeface="Century Schoolbook" pitchFamily="34" charset="-120"/>
              </a:rPr>
              <a:t>At the till</a:t>
            </a:r>
            <a:endParaRPr lang="en-US" sz="2200" dirty="0"/>
          </a:p>
        </p:txBody>
      </p:sp>
      <p:sp>
        <p:nvSpPr>
          <p:cNvPr id="7" name="Text 5"/>
          <p:cNvSpPr/>
          <p:nvPr/>
        </p:nvSpPr>
        <p:spPr>
          <a:xfrm>
            <a:off x="1005840" y="2377440"/>
            <a:ext cx="457200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Offer the lollipop + wings combo when one is ordered.</a:t>
            </a:r>
            <a:endParaRPr lang="en-US" sz="1350" dirty="0"/>
          </a:p>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Keep the discount small — most of these people were buying both anyway.</a:t>
            </a:r>
            <a:endParaRPr lang="en-US" sz="1350" dirty="0"/>
          </a:p>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Track whether it adds orders, not how many combos sell.</a:t>
            </a:r>
            <a:endParaRPr lang="en-US" sz="1350" dirty="0"/>
          </a:p>
        </p:txBody>
      </p:sp>
      <p:sp>
        <p:nvSpPr>
          <p:cNvPr id="8" name="Shape 6"/>
          <p:cNvSpPr/>
          <p:nvPr/>
        </p:nvSpPr>
        <p:spPr>
          <a:xfrm>
            <a:off x="6172200" y="1600200"/>
            <a:ext cx="5349240" cy="3200400"/>
          </a:xfrm>
          <a:prstGeom prst="roundRect">
            <a:avLst>
              <a:gd name="adj" fmla="val 1429"/>
            </a:avLst>
          </a:prstGeom>
          <a:solidFill>
            <a:srgbClr val="EDE6D9"/>
          </a:solidFill>
          <a:ln w="12700">
            <a:solidFill>
              <a:srgbClr val="EDE6D9"/>
            </a:solidFill>
            <a:prstDash val="solid"/>
          </a:ln>
        </p:spPr>
      </p:sp>
      <p:sp>
        <p:nvSpPr>
          <p:cNvPr id="9" name="Text 7"/>
          <p:cNvSpPr/>
          <p:nvPr/>
        </p:nvSpPr>
        <p:spPr>
          <a:xfrm>
            <a:off x="6537960" y="1874520"/>
            <a:ext cx="4572000" cy="365760"/>
          </a:xfrm>
          <a:prstGeom prst="rect">
            <a:avLst/>
          </a:prstGeom>
          <a:noFill/>
          <a:ln/>
        </p:spPr>
        <p:txBody>
          <a:bodyPr wrap="square" lIns="0" tIns="0" rIns="0" bIns="0" rtlCol="0" anchor="ctr"/>
          <a:lstStyle/>
          <a:p>
            <a:pPr indent="0" marL="0">
              <a:buNone/>
            </a:pPr>
            <a:r>
              <a:rPr lang="en-US" sz="2200" b="1" dirty="0">
                <a:solidFill>
                  <a:srgbClr val="6B7A4F"/>
                </a:solidFill>
                <a:latin typeface="Century Schoolbook" pitchFamily="34" charset="0"/>
                <a:ea typeface="Century Schoolbook" pitchFamily="34" charset="-122"/>
                <a:cs typeface="Century Schoolbook" pitchFamily="34" charset="-120"/>
              </a:rPr>
              <a:t>In the kitchen</a:t>
            </a:r>
            <a:endParaRPr lang="en-US" sz="2200" dirty="0"/>
          </a:p>
        </p:txBody>
      </p:sp>
      <p:sp>
        <p:nvSpPr>
          <p:cNvPr id="10" name="Text 8"/>
          <p:cNvSpPr/>
          <p:nvPr/>
        </p:nvSpPr>
        <p:spPr>
          <a:xfrm>
            <a:off x="6537960" y="2377440"/>
            <a:ext cx="457200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1 in 5 orders needs both items at once.</a:t>
            </a:r>
            <a:endParaRPr lang="en-US" sz="1350" dirty="0"/>
          </a:p>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Put the two fryer stations next to each other.</a:t>
            </a:r>
            <a:endParaRPr lang="en-US" sz="1350" dirty="0"/>
          </a:p>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Same equipment, same cooking style — the move costs nothing.</a:t>
            </a:r>
            <a:endParaRPr lang="en-US" sz="1350" dirty="0"/>
          </a:p>
        </p:txBody>
      </p:sp>
      <p:sp>
        <p:nvSpPr>
          <p:cNvPr id="11" name="Shape 9"/>
          <p:cNvSpPr/>
          <p:nvPr/>
        </p:nvSpPr>
        <p:spPr>
          <a:xfrm>
            <a:off x="640080" y="5074920"/>
            <a:ext cx="10881360" cy="777240"/>
          </a:xfrm>
          <a:prstGeom prst="roundRect">
            <a:avLst>
              <a:gd name="adj" fmla="val 5882"/>
            </a:avLst>
          </a:prstGeom>
          <a:solidFill>
            <a:srgbClr val="21201D"/>
          </a:solidFill>
          <a:ln w="12700">
            <a:solidFill>
              <a:srgbClr val="21201D"/>
            </a:solidFill>
            <a:prstDash val="solid"/>
          </a:ln>
        </p:spPr>
      </p:sp>
      <p:sp>
        <p:nvSpPr>
          <p:cNvPr id="12" name="Text 10"/>
          <p:cNvSpPr/>
          <p:nvPr/>
        </p:nvSpPr>
        <p:spPr>
          <a:xfrm>
            <a:off x="1005840" y="5285232"/>
            <a:ext cx="10149840" cy="365760"/>
          </a:xfrm>
          <a:prstGeom prst="rect">
            <a:avLst/>
          </a:prstGeom>
          <a:noFill/>
          <a:ln/>
        </p:spPr>
        <p:txBody>
          <a:bodyPr wrap="square" lIns="0" tIns="0" rIns="0" bIns="0" rtlCol="0" anchor="ctr"/>
          <a:lstStyle/>
          <a:p>
            <a:pPr indent="0" marL="0">
              <a:buNone/>
            </a:pPr>
            <a:r>
              <a:rPr lang="en-US" sz="1400" dirty="0">
                <a:solidFill>
                  <a:srgbClr val="F6F2EA"/>
                </a:solidFill>
                <a:latin typeface="Calibri" pitchFamily="34" charset="0"/>
                <a:ea typeface="Calibri" pitchFamily="34" charset="-122"/>
                <a:cs typeface="Calibri" pitchFamily="34" charset="-120"/>
              </a:rPr>
              <a:t>Test both for a month against a normal month before making them permanent.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06</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2</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How much cold coffee will we sell?</a:t>
            </a:r>
            <a:endParaRPr lang="en-US" sz="3000" dirty="0"/>
          </a:p>
        </p:txBody>
      </p:sp>
      <p:graphicFrame>
        <p:nvGraphicFramePr>
          <p:cNvPr id="5" name="Chart 0" descr=""/>
          <p:cNvGraphicFramePr/>
          <p:nvPr/>
        </p:nvGraphicFramePr>
        <p:xfrm>
          <a:off x="640080" y="155448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55280" y="1554480"/>
            <a:ext cx="3566160" cy="3931920"/>
          </a:xfrm>
          <a:prstGeom prst="roundRect">
            <a:avLst>
              <a:gd name="adj" fmla="val 1282"/>
            </a:avLst>
          </a:prstGeom>
          <a:solidFill>
            <a:srgbClr val="EDE6D9"/>
          </a:solidFill>
          <a:ln w="12700">
            <a:solidFill>
              <a:srgbClr val="EDE6D9"/>
            </a:solidFill>
            <a:prstDash val="solid"/>
          </a:ln>
        </p:spPr>
      </p:sp>
      <p:sp>
        <p:nvSpPr>
          <p:cNvPr id="7" name="Text 4"/>
          <p:cNvSpPr/>
          <p:nvPr/>
        </p:nvSpPr>
        <p:spPr>
          <a:xfrm>
            <a:off x="8275320" y="1828800"/>
            <a:ext cx="2926080" cy="365760"/>
          </a:xfrm>
          <a:prstGeom prst="rect">
            <a:avLst/>
          </a:prstGeom>
          <a:noFill/>
          <a:ln/>
        </p:spPr>
        <p:txBody>
          <a:bodyPr wrap="square" lIns="0" tIns="0" rIns="0" bIns="0" rtlCol="0" anchor="ctr"/>
          <a:lstStyle/>
          <a:p>
            <a:pPr indent="0" marL="0">
              <a:buNone/>
            </a:pPr>
            <a:r>
              <a:rPr lang="en-US" sz="1900" b="1" dirty="0">
                <a:solidFill>
                  <a:srgbClr val="21201D"/>
                </a:solidFill>
                <a:latin typeface="Century Schoolbook" pitchFamily="34" charset="0"/>
                <a:ea typeface="Century Schoolbook" pitchFamily="34" charset="-122"/>
                <a:cs typeface="Century Schoolbook" pitchFamily="34" charset="-120"/>
              </a:rPr>
              <a:t>Read it as a range</a:t>
            </a:r>
            <a:endParaRPr lang="en-US" sz="1900" dirty="0"/>
          </a:p>
        </p:txBody>
      </p:sp>
      <p:sp>
        <p:nvSpPr>
          <p:cNvPr id="8" name="Text 5"/>
          <p:cNvSpPr/>
          <p:nvPr/>
        </p:nvSpPr>
        <p:spPr>
          <a:xfrm>
            <a:off x="8275320" y="2331720"/>
            <a:ext cx="292608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The forecast settles at about 32 cups a week.</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But the range keeps widening — the further ahead, the less we know.</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Trust weeks 1–4. After that, plan for a range, not a number.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07</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The forecasting model, in plain terms</a:t>
            </a:r>
            <a:endParaRPr lang="en-US" sz="3000" dirty="0"/>
          </a:p>
        </p:txBody>
      </p:sp>
      <p:sp>
        <p:nvSpPr>
          <p:cNvPr id="5" name="Shape 3"/>
          <p:cNvSpPr/>
          <p:nvPr/>
        </p:nvSpPr>
        <p:spPr>
          <a:xfrm>
            <a:off x="640080" y="1554480"/>
            <a:ext cx="10881360" cy="777240"/>
          </a:xfrm>
          <a:prstGeom prst="roundRect">
            <a:avLst>
              <a:gd name="adj" fmla="val 5882"/>
            </a:avLst>
          </a:prstGeom>
          <a:solidFill>
            <a:srgbClr val="21201D"/>
          </a:solidFill>
          <a:ln w="12700">
            <a:solidFill>
              <a:srgbClr val="21201D"/>
            </a:solidFill>
            <a:prstDash val="solid"/>
          </a:ln>
        </p:spPr>
      </p:sp>
      <p:sp>
        <p:nvSpPr>
          <p:cNvPr id="6" name="Text 4"/>
          <p:cNvSpPr/>
          <p:nvPr/>
        </p:nvSpPr>
        <p:spPr>
          <a:xfrm>
            <a:off x="1005840" y="1737360"/>
            <a:ext cx="10149840" cy="411480"/>
          </a:xfrm>
          <a:prstGeom prst="rect">
            <a:avLst/>
          </a:prstGeom>
          <a:noFill/>
          <a:ln/>
        </p:spPr>
        <p:txBody>
          <a:bodyPr wrap="square" lIns="0" tIns="0" rIns="0" bIns="0" rtlCol="0" anchor="ctr"/>
          <a:lstStyle/>
          <a:p>
            <a:pPr indent="0" marL="0">
              <a:buNone/>
            </a:pPr>
            <a:r>
              <a:rPr lang="en-US" sz="1800" b="1" dirty="0">
                <a:solidFill>
                  <a:srgbClr val="F6F2EA"/>
                </a:solidFill>
                <a:latin typeface="Century Schoolbook" pitchFamily="34" charset="0"/>
                <a:ea typeface="Century Schoolbook" pitchFamily="34" charset="-122"/>
                <a:cs typeface="Century Schoolbook" pitchFamily="34" charset="-120"/>
              </a:rPr>
              <a:t>ARIMA (1, 1, 0)  —  chosen from nine models tested</a:t>
            </a:r>
            <a:endParaRPr lang="en-US" sz="1800" dirty="0"/>
          </a:p>
        </p:txBody>
      </p:sp>
      <p:sp>
        <p:nvSpPr>
          <p:cNvPr id="7" name="Shape 5"/>
          <p:cNvSpPr/>
          <p:nvPr/>
        </p:nvSpPr>
        <p:spPr>
          <a:xfrm>
            <a:off x="640080" y="2542032"/>
            <a:ext cx="10881360" cy="603504"/>
          </a:xfrm>
          <a:prstGeom prst="roundRect">
            <a:avLst>
              <a:gd name="adj" fmla="val 7576"/>
            </a:avLst>
          </a:prstGeom>
          <a:solidFill>
            <a:srgbClr val="EDE6D9"/>
          </a:solidFill>
          <a:ln w="12700">
            <a:solidFill>
              <a:srgbClr val="EDE6D9"/>
            </a:solidFill>
            <a:prstDash val="solid"/>
          </a:ln>
        </p:spPr>
      </p:sp>
      <p:sp>
        <p:nvSpPr>
          <p:cNvPr id="8" name="Text 6"/>
          <p:cNvSpPr/>
          <p:nvPr/>
        </p:nvSpPr>
        <p:spPr>
          <a:xfrm>
            <a:off x="1005840" y="2697480"/>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The 1 in the middle</a:t>
            </a:r>
            <a:endParaRPr lang="en-US" sz="1500" dirty="0"/>
          </a:p>
        </p:txBody>
      </p:sp>
      <p:sp>
        <p:nvSpPr>
          <p:cNvPr id="9" name="Text 7"/>
          <p:cNvSpPr/>
          <p:nvPr/>
        </p:nvSpPr>
        <p:spPr>
          <a:xfrm>
            <a:off x="3749040" y="2706624"/>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d = 1</a:t>
            </a:r>
            <a:endParaRPr lang="en-US" sz="1500" dirty="0"/>
          </a:p>
        </p:txBody>
      </p:sp>
      <p:sp>
        <p:nvSpPr>
          <p:cNvPr id="10" name="Text 8"/>
          <p:cNvSpPr/>
          <p:nvPr/>
        </p:nvSpPr>
        <p:spPr>
          <a:xfrm>
            <a:off x="5852160" y="2715768"/>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Sales were trending, so we model week-on-week change</a:t>
            </a:r>
            <a:endParaRPr lang="en-US" sz="1350" dirty="0"/>
          </a:p>
        </p:txBody>
      </p:sp>
      <p:sp>
        <p:nvSpPr>
          <p:cNvPr id="11" name="Shape 9"/>
          <p:cNvSpPr/>
          <p:nvPr/>
        </p:nvSpPr>
        <p:spPr>
          <a:xfrm>
            <a:off x="640080" y="3255264"/>
            <a:ext cx="10881360" cy="603504"/>
          </a:xfrm>
          <a:prstGeom prst="roundRect">
            <a:avLst>
              <a:gd name="adj" fmla="val 7576"/>
            </a:avLst>
          </a:prstGeom>
          <a:solidFill>
            <a:srgbClr val="EDE6D9"/>
          </a:solidFill>
          <a:ln w="12700">
            <a:solidFill>
              <a:srgbClr val="EDE6D9"/>
            </a:solidFill>
            <a:prstDash val="solid"/>
          </a:ln>
        </p:spPr>
      </p:sp>
      <p:sp>
        <p:nvSpPr>
          <p:cNvPr id="12" name="Text 10"/>
          <p:cNvSpPr/>
          <p:nvPr/>
        </p:nvSpPr>
        <p:spPr>
          <a:xfrm>
            <a:off x="1005840" y="3410712"/>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The first 1</a:t>
            </a:r>
            <a:endParaRPr lang="en-US" sz="1500" dirty="0"/>
          </a:p>
        </p:txBody>
      </p:sp>
      <p:sp>
        <p:nvSpPr>
          <p:cNvPr id="13" name="Text 11"/>
          <p:cNvSpPr/>
          <p:nvPr/>
        </p:nvSpPr>
        <p:spPr>
          <a:xfrm>
            <a:off x="3749040" y="3419856"/>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p = 1</a:t>
            </a:r>
            <a:endParaRPr lang="en-US" sz="1500" dirty="0"/>
          </a:p>
        </p:txBody>
      </p:sp>
      <p:sp>
        <p:nvSpPr>
          <p:cNvPr id="14" name="Text 12"/>
          <p:cNvSpPr/>
          <p:nvPr/>
        </p:nvSpPr>
        <p:spPr>
          <a:xfrm>
            <a:off x="5852160" y="3429000"/>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Each week's forecast leans on the week before it</a:t>
            </a:r>
            <a:endParaRPr lang="en-US" sz="1350" dirty="0"/>
          </a:p>
        </p:txBody>
      </p:sp>
      <p:sp>
        <p:nvSpPr>
          <p:cNvPr id="15" name="Shape 13"/>
          <p:cNvSpPr/>
          <p:nvPr/>
        </p:nvSpPr>
        <p:spPr>
          <a:xfrm>
            <a:off x="640080" y="3968496"/>
            <a:ext cx="10881360" cy="603504"/>
          </a:xfrm>
          <a:prstGeom prst="roundRect">
            <a:avLst>
              <a:gd name="adj" fmla="val 7576"/>
            </a:avLst>
          </a:prstGeom>
          <a:solidFill>
            <a:srgbClr val="EDE6D9"/>
          </a:solidFill>
          <a:ln w="12700">
            <a:solidFill>
              <a:srgbClr val="EDE6D9"/>
            </a:solidFill>
            <a:prstDash val="solid"/>
          </a:ln>
        </p:spPr>
      </p:sp>
      <p:sp>
        <p:nvSpPr>
          <p:cNvPr id="16" name="Text 14"/>
          <p:cNvSpPr/>
          <p:nvPr/>
        </p:nvSpPr>
        <p:spPr>
          <a:xfrm>
            <a:off x="1005840" y="4123944"/>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The 0</a:t>
            </a:r>
            <a:endParaRPr lang="en-US" sz="1500" dirty="0"/>
          </a:p>
        </p:txBody>
      </p:sp>
      <p:sp>
        <p:nvSpPr>
          <p:cNvPr id="17" name="Text 15"/>
          <p:cNvSpPr/>
          <p:nvPr/>
        </p:nvSpPr>
        <p:spPr>
          <a:xfrm>
            <a:off x="3749040" y="4133088"/>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q = 0</a:t>
            </a:r>
            <a:endParaRPr lang="en-US" sz="1500" dirty="0"/>
          </a:p>
        </p:txBody>
      </p:sp>
      <p:sp>
        <p:nvSpPr>
          <p:cNvPr id="18" name="Text 16"/>
          <p:cNvSpPr/>
          <p:nvPr/>
        </p:nvSpPr>
        <p:spPr>
          <a:xfrm>
            <a:off x="5852160" y="4142232"/>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No correction term needed — the simpler model won</a:t>
            </a:r>
            <a:endParaRPr lang="en-US" sz="1350" dirty="0"/>
          </a:p>
        </p:txBody>
      </p:sp>
      <p:sp>
        <p:nvSpPr>
          <p:cNvPr id="19" name="Shape 17"/>
          <p:cNvSpPr/>
          <p:nvPr/>
        </p:nvSpPr>
        <p:spPr>
          <a:xfrm>
            <a:off x="640080" y="4681728"/>
            <a:ext cx="10881360" cy="603504"/>
          </a:xfrm>
          <a:prstGeom prst="roundRect">
            <a:avLst>
              <a:gd name="adj" fmla="val 7576"/>
            </a:avLst>
          </a:prstGeom>
          <a:solidFill>
            <a:srgbClr val="EDE6D9"/>
          </a:solidFill>
          <a:ln w="12700">
            <a:solidFill>
              <a:srgbClr val="EDE6D9"/>
            </a:solidFill>
            <a:prstDash val="solid"/>
          </a:ln>
        </p:spPr>
      </p:sp>
      <p:sp>
        <p:nvSpPr>
          <p:cNvPr id="20" name="Text 18"/>
          <p:cNvSpPr/>
          <p:nvPr/>
        </p:nvSpPr>
        <p:spPr>
          <a:xfrm>
            <a:off x="1005840" y="4837176"/>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Model score (AIC)</a:t>
            </a:r>
            <a:endParaRPr lang="en-US" sz="1500" dirty="0"/>
          </a:p>
        </p:txBody>
      </p:sp>
      <p:sp>
        <p:nvSpPr>
          <p:cNvPr id="21" name="Text 19"/>
          <p:cNvSpPr/>
          <p:nvPr/>
        </p:nvSpPr>
        <p:spPr>
          <a:xfrm>
            <a:off x="3749040" y="4846320"/>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794.4</a:t>
            </a:r>
            <a:endParaRPr lang="en-US" sz="1500" dirty="0"/>
          </a:p>
        </p:txBody>
      </p:sp>
      <p:sp>
        <p:nvSpPr>
          <p:cNvPr id="22" name="Text 20"/>
          <p:cNvSpPr/>
          <p:nvPr/>
        </p:nvSpPr>
        <p:spPr>
          <a:xfrm>
            <a:off x="5852160" y="4855464"/>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Lowest of all nine — best fit without over-complicating</a:t>
            </a:r>
            <a:endParaRPr lang="en-US" sz="1350" dirty="0"/>
          </a:p>
        </p:txBody>
      </p:sp>
      <p:sp>
        <p:nvSpPr>
          <p:cNvPr id="23" name="Shape 21"/>
          <p:cNvSpPr/>
          <p:nvPr/>
        </p:nvSpPr>
        <p:spPr>
          <a:xfrm>
            <a:off x="640080" y="5394960"/>
            <a:ext cx="10881360" cy="603504"/>
          </a:xfrm>
          <a:prstGeom prst="roundRect">
            <a:avLst>
              <a:gd name="adj" fmla="val 7576"/>
            </a:avLst>
          </a:prstGeom>
          <a:solidFill>
            <a:srgbClr val="EDE6D9"/>
          </a:solidFill>
          <a:ln w="12700">
            <a:solidFill>
              <a:srgbClr val="EDE6D9"/>
            </a:solidFill>
            <a:prstDash val="solid"/>
          </a:ln>
        </p:spPr>
      </p:sp>
      <p:sp>
        <p:nvSpPr>
          <p:cNvPr id="24" name="Text 22"/>
          <p:cNvSpPr/>
          <p:nvPr/>
        </p:nvSpPr>
        <p:spPr>
          <a:xfrm>
            <a:off x="1005840" y="5550408"/>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Error check</a:t>
            </a:r>
            <a:endParaRPr lang="en-US" sz="1500" dirty="0"/>
          </a:p>
        </p:txBody>
      </p:sp>
      <p:sp>
        <p:nvSpPr>
          <p:cNvPr id="25" name="Text 23"/>
          <p:cNvSpPr/>
          <p:nvPr/>
        </p:nvSpPr>
        <p:spPr>
          <a:xfrm>
            <a:off x="3749040" y="5559552"/>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0.893</a:t>
            </a:r>
            <a:endParaRPr lang="en-US" sz="1500" dirty="0"/>
          </a:p>
        </p:txBody>
      </p:sp>
      <p:sp>
        <p:nvSpPr>
          <p:cNvPr id="26" name="Text 24"/>
          <p:cNvSpPr/>
          <p:nvPr/>
        </p:nvSpPr>
        <p:spPr>
          <a:xfrm>
            <a:off x="5852160" y="5568696"/>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Well above 0.05, so the leftover errors are just noise</a:t>
            </a:r>
            <a:endParaRPr lang="en-US" sz="1350" dirty="0"/>
          </a:p>
        </p:txBody>
      </p:sp>
      <p:sp>
        <p:nvSpPr>
          <p:cNvPr id="27" name="Text 25"/>
          <p:cNvSpPr/>
          <p:nvPr/>
        </p:nvSpPr>
        <p:spPr>
          <a:xfrm>
            <a:off x="640080" y="6272784"/>
            <a:ext cx="10881360" cy="365760"/>
          </a:xfrm>
          <a:prstGeom prst="rect">
            <a:avLst/>
          </a:prstGeom>
          <a:noFill/>
          <a:ln/>
        </p:spPr>
        <p:txBody>
          <a:bodyPr wrap="square" lIns="0" tIns="0" rIns="0" bIns="0" rtlCol="0" anchor="ctr"/>
          <a:lstStyle/>
          <a:p>
            <a:pPr indent="0" marL="0">
              <a:buNone/>
            </a:pPr>
            <a:r>
              <a:rPr lang="en-US" sz="1350" i="1" dirty="0">
                <a:solidFill>
                  <a:srgbClr val="6E675C"/>
                </a:solidFill>
                <a:latin typeface="Calibri" pitchFamily="34" charset="0"/>
                <a:ea typeface="Calibri" pitchFamily="34" charset="-122"/>
                <a:cs typeface="Calibri" pitchFamily="34" charset="-120"/>
              </a:rPr>
              <a:t>A good forecast leaves behind errors with no pattern. This one does.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08</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2 — HONEST LIMITS</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Where I would not trust this forecast</a:t>
            </a:r>
            <a:endParaRPr lang="en-US" sz="3000" dirty="0"/>
          </a:p>
        </p:txBody>
      </p:sp>
      <p:sp>
        <p:nvSpPr>
          <p:cNvPr id="5" name="Shape 3"/>
          <p:cNvSpPr/>
          <p:nvPr/>
        </p:nvSpPr>
        <p:spPr>
          <a:xfrm>
            <a:off x="640080" y="1645920"/>
            <a:ext cx="3474720" cy="2743200"/>
          </a:xfrm>
          <a:prstGeom prst="roundRect">
            <a:avLst>
              <a:gd name="adj" fmla="val 1667"/>
            </a:avLst>
          </a:prstGeom>
          <a:solidFill>
            <a:srgbClr val="EDE6D9"/>
          </a:solidFill>
          <a:ln w="12700">
            <a:solidFill>
              <a:srgbClr val="EDE6D9"/>
            </a:solidFill>
            <a:prstDash val="solid"/>
          </a:ln>
        </p:spPr>
      </p:sp>
      <p:sp>
        <p:nvSpPr>
          <p:cNvPr id="6" name="Text 4"/>
          <p:cNvSpPr/>
          <p:nvPr/>
        </p:nvSpPr>
        <p:spPr>
          <a:xfrm>
            <a:off x="960120" y="1920240"/>
            <a:ext cx="2834640" cy="548640"/>
          </a:xfrm>
          <a:prstGeom prst="rect">
            <a:avLst/>
          </a:prstGeom>
          <a:noFill/>
          <a:ln/>
        </p:spPr>
        <p:txBody>
          <a:bodyPr wrap="square" lIns="0" tIns="0" rIns="0" bIns="0" rtlCol="0" anchor="ctr"/>
          <a:lstStyle/>
          <a:p>
            <a:pPr indent="0" marL="0">
              <a:buNone/>
            </a:pPr>
            <a:r>
              <a:rPr lang="en-US" sz="1700" b="1" dirty="0">
                <a:solidFill>
                  <a:srgbClr val="B04A2F"/>
                </a:solidFill>
                <a:latin typeface="Century Schoolbook" pitchFamily="34" charset="0"/>
                <a:ea typeface="Century Schoolbook" pitchFamily="34" charset="-122"/>
                <a:cs typeface="Century Schoolbook" pitchFamily="34" charset="-120"/>
              </a:rPr>
              <a:t>It ignores summer</a:t>
            </a:r>
            <a:endParaRPr lang="en-US" sz="1700" dirty="0"/>
          </a:p>
        </p:txBody>
      </p:sp>
      <p:sp>
        <p:nvSpPr>
          <p:cNvPr id="7" name="Text 5"/>
          <p:cNvSpPr/>
          <p:nvPr/>
        </p:nvSpPr>
        <p:spPr>
          <a:xfrm>
            <a:off x="960120" y="2560320"/>
            <a:ext cx="2834640" cy="1554480"/>
          </a:xfrm>
          <a:prstGeom prst="rect">
            <a:avLst/>
          </a:prstGeom>
          <a:noFill/>
          <a:ln/>
        </p:spPr>
        <p:txBody>
          <a:bodyPr wrap="square" lIns="0" tIns="0" rIns="0" bIns="0" rtlCol="0" anchor="ctr"/>
          <a:lstStyle/>
          <a:p>
            <a:pPr indent="0" marL="0">
              <a:lnSpc>
                <a:spcPts val="1900"/>
              </a:lnSpc>
              <a:buNone/>
            </a:pPr>
            <a:r>
              <a:rPr lang="en-US" sz="1300" dirty="0">
                <a:solidFill>
                  <a:srgbClr val="3A3730"/>
                </a:solidFill>
                <a:latin typeface="Calibri" pitchFamily="34" charset="0"/>
                <a:ea typeface="Calibri" pitchFamily="34" charset="-122"/>
                <a:cs typeface="Calibri" pitchFamily="34" charset="-120"/>
              </a:rPr>
              <a:t>Cold coffee spikes every April to June. This model can't see yearly patterns, so it flattens the peak.</a:t>
            </a:r>
            <a:endParaRPr lang="en-US" sz="1300" dirty="0"/>
          </a:p>
        </p:txBody>
      </p:sp>
      <p:sp>
        <p:nvSpPr>
          <p:cNvPr id="8" name="Shape 6"/>
          <p:cNvSpPr/>
          <p:nvPr/>
        </p:nvSpPr>
        <p:spPr>
          <a:xfrm>
            <a:off x="4343400" y="1645920"/>
            <a:ext cx="3474720" cy="2743200"/>
          </a:xfrm>
          <a:prstGeom prst="roundRect">
            <a:avLst>
              <a:gd name="adj" fmla="val 1667"/>
            </a:avLst>
          </a:prstGeom>
          <a:solidFill>
            <a:srgbClr val="EDE6D9"/>
          </a:solidFill>
          <a:ln w="12700">
            <a:solidFill>
              <a:srgbClr val="EDE6D9"/>
            </a:solidFill>
            <a:prstDash val="solid"/>
          </a:ln>
        </p:spPr>
      </p:sp>
      <p:sp>
        <p:nvSpPr>
          <p:cNvPr id="9" name="Text 7"/>
          <p:cNvSpPr/>
          <p:nvPr/>
        </p:nvSpPr>
        <p:spPr>
          <a:xfrm>
            <a:off x="4663440" y="1920240"/>
            <a:ext cx="2834640" cy="548640"/>
          </a:xfrm>
          <a:prstGeom prst="rect">
            <a:avLst/>
          </a:prstGeom>
          <a:noFill/>
          <a:ln/>
        </p:spPr>
        <p:txBody>
          <a:bodyPr wrap="square" lIns="0" tIns="0" rIns="0" bIns="0" rtlCol="0" anchor="ctr"/>
          <a:lstStyle/>
          <a:p>
            <a:pPr indent="0" marL="0">
              <a:buNone/>
            </a:pPr>
            <a:r>
              <a:rPr lang="en-US" sz="1700" b="1" dirty="0">
                <a:solidFill>
                  <a:srgbClr val="B04A2F"/>
                </a:solidFill>
                <a:latin typeface="Century Schoolbook" pitchFamily="34" charset="0"/>
                <a:ea typeface="Century Schoolbook" pitchFamily="34" charset="-122"/>
                <a:cs typeface="Century Schoolbook" pitchFamily="34" charset="-120"/>
              </a:rPr>
              <a:t>The range dips below zero</a:t>
            </a:r>
            <a:endParaRPr lang="en-US" sz="1700" dirty="0"/>
          </a:p>
        </p:txBody>
      </p:sp>
      <p:sp>
        <p:nvSpPr>
          <p:cNvPr id="10" name="Text 8"/>
          <p:cNvSpPr/>
          <p:nvPr/>
        </p:nvSpPr>
        <p:spPr>
          <a:xfrm>
            <a:off x="4663440" y="2560320"/>
            <a:ext cx="2834640" cy="1554480"/>
          </a:xfrm>
          <a:prstGeom prst="rect">
            <a:avLst/>
          </a:prstGeom>
          <a:noFill/>
          <a:ln/>
        </p:spPr>
        <p:txBody>
          <a:bodyPr wrap="square" lIns="0" tIns="0" rIns="0" bIns="0" rtlCol="0" anchor="ctr"/>
          <a:lstStyle/>
          <a:p>
            <a:pPr indent="0" marL="0">
              <a:lnSpc>
                <a:spcPts val="1900"/>
              </a:lnSpc>
              <a:buNone/>
            </a:pPr>
            <a:r>
              <a:rPr lang="en-US" sz="1300" dirty="0">
                <a:solidFill>
                  <a:srgbClr val="3A3730"/>
                </a:solidFill>
                <a:latin typeface="Calibri" pitchFamily="34" charset="0"/>
                <a:ea typeface="Calibri" pitchFamily="34" charset="-122"/>
                <a:cs typeface="Calibri" pitchFamily="34" charset="-120"/>
              </a:rPr>
              <a:t>Mathematically the model allows negative sales. That's impossible — the range should stop at zero.</a:t>
            </a:r>
            <a:endParaRPr lang="en-US" sz="1300" dirty="0"/>
          </a:p>
        </p:txBody>
      </p:sp>
      <p:sp>
        <p:nvSpPr>
          <p:cNvPr id="11" name="Shape 9"/>
          <p:cNvSpPr/>
          <p:nvPr/>
        </p:nvSpPr>
        <p:spPr>
          <a:xfrm>
            <a:off x="8046720" y="1645920"/>
            <a:ext cx="3474720" cy="2743200"/>
          </a:xfrm>
          <a:prstGeom prst="roundRect">
            <a:avLst>
              <a:gd name="adj" fmla="val 1667"/>
            </a:avLst>
          </a:prstGeom>
          <a:solidFill>
            <a:srgbClr val="EDE6D9"/>
          </a:solidFill>
          <a:ln w="12700">
            <a:solidFill>
              <a:srgbClr val="EDE6D9"/>
            </a:solidFill>
            <a:prstDash val="solid"/>
          </a:ln>
        </p:spPr>
      </p:sp>
      <p:sp>
        <p:nvSpPr>
          <p:cNvPr id="12" name="Text 10"/>
          <p:cNvSpPr/>
          <p:nvPr/>
        </p:nvSpPr>
        <p:spPr>
          <a:xfrm>
            <a:off x="8366760" y="1920240"/>
            <a:ext cx="2834640" cy="548640"/>
          </a:xfrm>
          <a:prstGeom prst="rect">
            <a:avLst/>
          </a:prstGeom>
          <a:noFill/>
          <a:ln/>
        </p:spPr>
        <p:txBody>
          <a:bodyPr wrap="square" lIns="0" tIns="0" rIns="0" bIns="0" rtlCol="0" anchor="ctr"/>
          <a:lstStyle/>
          <a:p>
            <a:pPr indent="0" marL="0">
              <a:buNone/>
            </a:pPr>
            <a:r>
              <a:rPr lang="en-US" sz="1700" b="1" dirty="0">
                <a:solidFill>
                  <a:srgbClr val="B04A2F"/>
                </a:solidFill>
                <a:latin typeface="Century Schoolbook" pitchFamily="34" charset="0"/>
                <a:ea typeface="Century Schoolbook" pitchFamily="34" charset="-122"/>
                <a:cs typeface="Century Schoolbook" pitchFamily="34" charset="-120"/>
              </a:rPr>
              <a:t>It leans on the last week</a:t>
            </a:r>
            <a:endParaRPr lang="en-US" sz="1700" dirty="0"/>
          </a:p>
        </p:txBody>
      </p:sp>
      <p:sp>
        <p:nvSpPr>
          <p:cNvPr id="13" name="Text 11"/>
          <p:cNvSpPr/>
          <p:nvPr/>
        </p:nvSpPr>
        <p:spPr>
          <a:xfrm>
            <a:off x="8366760" y="2560320"/>
            <a:ext cx="2834640" cy="1554480"/>
          </a:xfrm>
          <a:prstGeom prst="rect">
            <a:avLst/>
          </a:prstGeom>
          <a:noFill/>
          <a:ln/>
        </p:spPr>
        <p:txBody>
          <a:bodyPr wrap="square" lIns="0" tIns="0" rIns="0" bIns="0" rtlCol="0" anchor="ctr"/>
          <a:lstStyle/>
          <a:p>
            <a:pPr indent="0" marL="0">
              <a:lnSpc>
                <a:spcPts val="1900"/>
              </a:lnSpc>
              <a:buNone/>
            </a:pPr>
            <a:r>
              <a:rPr lang="en-US" sz="1300" dirty="0">
                <a:solidFill>
                  <a:srgbClr val="3A3730"/>
                </a:solidFill>
                <a:latin typeface="Calibri" pitchFamily="34" charset="0"/>
                <a:ea typeface="Calibri" pitchFamily="34" charset="-122"/>
                <a:cs typeface="Calibri" pitchFamily="34" charset="-120"/>
              </a:rPr>
              <a:t>The final week in the data is unusually low, which drags the whole forecast down. Worth checking.</a:t>
            </a:r>
            <a:endParaRPr lang="en-US" sz="1300" dirty="0"/>
          </a:p>
        </p:txBody>
      </p:sp>
      <p:sp>
        <p:nvSpPr>
          <p:cNvPr id="14" name="Text 12"/>
          <p:cNvSpPr/>
          <p:nvPr/>
        </p:nvSpPr>
        <p:spPr>
          <a:xfrm>
            <a:off x="640080" y="4800600"/>
            <a:ext cx="10881360" cy="365760"/>
          </a:xfrm>
          <a:prstGeom prst="rect">
            <a:avLst/>
          </a:prstGeom>
          <a:noFill/>
          <a:ln/>
        </p:spPr>
        <p:txBody>
          <a:bodyPr wrap="square" lIns="0" tIns="0" rIns="0" bIns="0" rtlCol="0" anchor="ctr"/>
          <a:lstStyle/>
          <a:p>
            <a:pPr indent="0" marL="0">
              <a:buNone/>
            </a:pPr>
            <a:r>
              <a:rPr lang="en-US" sz="1500" b="1" dirty="0">
                <a:solidFill>
                  <a:srgbClr val="21201D"/>
                </a:solidFill>
                <a:latin typeface="Calibri" pitchFamily="34" charset="0"/>
                <a:ea typeface="Calibri" pitchFamily="34" charset="-122"/>
                <a:cs typeface="Calibri" pitchFamily="34" charset="-120"/>
              </a:rPr>
              <a:t>Still useful for setting weekly order sizes — just not for deciding how much to make today.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09</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3</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How many pizzas should we make?</a:t>
            </a:r>
            <a:endParaRPr lang="en-US" sz="3000" dirty="0"/>
          </a:p>
        </p:txBody>
      </p:sp>
      <p:graphicFrame>
        <p:nvGraphicFramePr>
          <p:cNvPr id="5" name="Chart 0" descr=""/>
          <p:cNvGraphicFramePr/>
          <p:nvPr/>
        </p:nvGraphicFramePr>
        <p:xfrm>
          <a:off x="640080" y="1645920"/>
          <a:ext cx="566928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5029200"/>
            <a:ext cx="5669280" cy="274320"/>
          </a:xfrm>
          <a:prstGeom prst="rect">
            <a:avLst/>
          </a:prstGeom>
          <a:noFill/>
          <a:ln/>
        </p:spPr>
        <p:txBody>
          <a:bodyPr wrap="square" lIns="0" tIns="0" rIns="0" bIns="0" rtlCol="0" anchor="ctr"/>
          <a:lstStyle/>
          <a:p>
            <a:pPr indent="0" marL="0">
              <a:buNone/>
            </a:pPr>
            <a:r>
              <a:rPr lang="en-US" sz="1100" i="1" dirty="0">
                <a:solidFill>
                  <a:srgbClr val="6E675C"/>
                </a:solidFill>
                <a:latin typeface="Calibri" pitchFamily="34" charset="0"/>
                <a:ea typeface="Calibri" pitchFamily="34" charset="-122"/>
                <a:cs typeface="Calibri" pitchFamily="34" charset="-120"/>
              </a:rPr>
              <a:t>Cost to the business, in rupees</a:t>
            </a:r>
            <a:endParaRPr lang="en-US" sz="1100" dirty="0"/>
          </a:p>
        </p:txBody>
      </p:sp>
      <p:sp>
        <p:nvSpPr>
          <p:cNvPr id="7" name="Shape 4"/>
          <p:cNvSpPr/>
          <p:nvPr/>
        </p:nvSpPr>
        <p:spPr>
          <a:xfrm>
            <a:off x="6675120" y="1645920"/>
            <a:ext cx="4846320" cy="3291840"/>
          </a:xfrm>
          <a:prstGeom prst="roundRect">
            <a:avLst>
              <a:gd name="adj" fmla="val 1389"/>
            </a:avLst>
          </a:prstGeom>
          <a:solidFill>
            <a:srgbClr val="EDE6D9"/>
          </a:solidFill>
          <a:ln w="12700">
            <a:solidFill>
              <a:srgbClr val="EDE6D9"/>
            </a:solidFill>
            <a:prstDash val="solid"/>
          </a:ln>
        </p:spPr>
      </p:sp>
      <p:sp>
        <p:nvSpPr>
          <p:cNvPr id="8" name="Text 5"/>
          <p:cNvSpPr/>
          <p:nvPr/>
        </p:nvSpPr>
        <p:spPr>
          <a:xfrm>
            <a:off x="7040880" y="1920240"/>
            <a:ext cx="4114800" cy="640080"/>
          </a:xfrm>
          <a:prstGeom prst="rect">
            <a:avLst/>
          </a:prstGeom>
          <a:noFill/>
          <a:ln/>
        </p:spPr>
        <p:txBody>
          <a:bodyPr wrap="square" lIns="0" tIns="0" rIns="0" bIns="0" rtlCol="0" anchor="ctr"/>
          <a:lstStyle/>
          <a:p>
            <a:pPr indent="0" marL="0">
              <a:buNone/>
            </a:pPr>
            <a:r>
              <a:rPr lang="en-US" sz="3800" b="1" dirty="0">
                <a:solidFill>
                  <a:srgbClr val="B04A2F"/>
                </a:solidFill>
                <a:latin typeface="Century Schoolbook" pitchFamily="34" charset="0"/>
                <a:ea typeface="Century Schoolbook" pitchFamily="34" charset="-122"/>
                <a:cs typeface="Century Schoolbook" pitchFamily="34" charset="-120"/>
              </a:rPr>
              <a:t>Make 32</a:t>
            </a:r>
            <a:endParaRPr lang="en-US" sz="3800" dirty="0"/>
          </a:p>
        </p:txBody>
      </p:sp>
      <p:sp>
        <p:nvSpPr>
          <p:cNvPr id="9" name="Text 6"/>
          <p:cNvSpPr/>
          <p:nvPr/>
        </p:nvSpPr>
        <p:spPr>
          <a:xfrm>
            <a:off x="7040880" y="2514600"/>
            <a:ext cx="4114800" cy="365760"/>
          </a:xfrm>
          <a:prstGeom prst="rect">
            <a:avLst/>
          </a:prstGeom>
          <a:noFill/>
          <a:ln/>
        </p:spPr>
        <p:txBody>
          <a:bodyPr wrap="square" lIns="0" tIns="0" rIns="0" bIns="0" rtlCol="0" anchor="ctr"/>
          <a:lstStyle/>
          <a:p>
            <a:pPr indent="0" marL="0">
              <a:buNone/>
            </a:pPr>
            <a:r>
              <a:rPr lang="en-US" sz="1600" i="1" dirty="0">
                <a:solidFill>
                  <a:srgbClr val="6E675C"/>
                </a:solidFill>
                <a:latin typeface="Calibri" pitchFamily="34" charset="0"/>
                <a:ea typeface="Calibri" pitchFamily="34" charset="-122"/>
                <a:cs typeface="Calibri" pitchFamily="34" charset="-120"/>
              </a:rPr>
              <a:t>not 30</a:t>
            </a:r>
            <a:endParaRPr lang="en-US" sz="1600" dirty="0"/>
          </a:p>
        </p:txBody>
      </p:sp>
      <p:sp>
        <p:nvSpPr>
          <p:cNvPr id="10" name="Text 7"/>
          <p:cNvSpPr/>
          <p:nvPr/>
        </p:nvSpPr>
        <p:spPr>
          <a:xfrm>
            <a:off x="7040880" y="3017520"/>
            <a:ext cx="411480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Running out costs ₹140. Wasting one costs ₹90.</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Since running out hurts more, make slightly extra.</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Average demand is 30. The right target is 32.</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10</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How the 32 was calculated</a:t>
            </a:r>
            <a:endParaRPr lang="en-US" sz="3000" dirty="0"/>
          </a:p>
        </p:txBody>
      </p:sp>
      <p:sp>
        <p:nvSpPr>
          <p:cNvPr id="5" name="Shape 3"/>
          <p:cNvSpPr/>
          <p:nvPr/>
        </p:nvSpPr>
        <p:spPr>
          <a:xfrm>
            <a:off x="640080" y="1554480"/>
            <a:ext cx="10881360" cy="777240"/>
          </a:xfrm>
          <a:prstGeom prst="roundRect">
            <a:avLst>
              <a:gd name="adj" fmla="val 5882"/>
            </a:avLst>
          </a:prstGeom>
          <a:solidFill>
            <a:srgbClr val="21201D"/>
          </a:solidFill>
          <a:ln w="12700">
            <a:solidFill>
              <a:srgbClr val="21201D"/>
            </a:solidFill>
            <a:prstDash val="solid"/>
          </a:ln>
        </p:spPr>
      </p:sp>
      <p:sp>
        <p:nvSpPr>
          <p:cNvPr id="6" name="Text 4"/>
          <p:cNvSpPr/>
          <p:nvPr/>
        </p:nvSpPr>
        <p:spPr>
          <a:xfrm>
            <a:off x="1005840" y="1737360"/>
            <a:ext cx="10149840" cy="411480"/>
          </a:xfrm>
          <a:prstGeom prst="rect">
            <a:avLst/>
          </a:prstGeom>
          <a:noFill/>
          <a:ln/>
        </p:spPr>
        <p:txBody>
          <a:bodyPr wrap="square" lIns="0" tIns="0" rIns="0" bIns="0" rtlCol="0" anchor="ctr"/>
          <a:lstStyle/>
          <a:p>
            <a:pPr indent="0" marL="0">
              <a:buNone/>
            </a:pPr>
            <a:r>
              <a:rPr lang="en-US" sz="1800" b="1" dirty="0">
                <a:solidFill>
                  <a:srgbClr val="F6F2EA"/>
                </a:solidFill>
                <a:latin typeface="Century Schoolbook" pitchFamily="34" charset="0"/>
                <a:ea typeface="Century Schoolbook" pitchFamily="34" charset="-122"/>
                <a:cs typeface="Century Schoolbook" pitchFamily="34" charset="-120"/>
              </a:rPr>
              <a:t>Target  =  average demand  +  a nudge upward for the cost of running out</a:t>
            </a:r>
            <a:endParaRPr lang="en-US" sz="1800" dirty="0"/>
          </a:p>
        </p:txBody>
      </p:sp>
      <p:sp>
        <p:nvSpPr>
          <p:cNvPr id="7" name="Shape 5"/>
          <p:cNvSpPr/>
          <p:nvPr/>
        </p:nvSpPr>
        <p:spPr>
          <a:xfrm>
            <a:off x="640080" y="2542032"/>
            <a:ext cx="10881360" cy="603504"/>
          </a:xfrm>
          <a:prstGeom prst="roundRect">
            <a:avLst>
              <a:gd name="adj" fmla="val 7576"/>
            </a:avLst>
          </a:prstGeom>
          <a:solidFill>
            <a:srgbClr val="EDE6D9"/>
          </a:solidFill>
          <a:ln w="12700">
            <a:solidFill>
              <a:srgbClr val="EDE6D9"/>
            </a:solidFill>
            <a:prstDash val="solid"/>
          </a:ln>
        </p:spPr>
      </p:sp>
      <p:sp>
        <p:nvSpPr>
          <p:cNvPr id="8" name="Text 6"/>
          <p:cNvSpPr/>
          <p:nvPr/>
        </p:nvSpPr>
        <p:spPr>
          <a:xfrm>
            <a:off x="1005840" y="2697480"/>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Sale price</a:t>
            </a:r>
            <a:endParaRPr lang="en-US" sz="1500" dirty="0"/>
          </a:p>
        </p:txBody>
      </p:sp>
      <p:sp>
        <p:nvSpPr>
          <p:cNvPr id="9" name="Text 7"/>
          <p:cNvSpPr/>
          <p:nvPr/>
        </p:nvSpPr>
        <p:spPr>
          <a:xfrm>
            <a:off x="3749040" y="2706624"/>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₹230</a:t>
            </a:r>
            <a:endParaRPr lang="en-US" sz="1500" dirty="0"/>
          </a:p>
        </p:txBody>
      </p:sp>
      <p:sp>
        <p:nvSpPr>
          <p:cNvPr id="10" name="Text 8"/>
          <p:cNvSpPr/>
          <p:nvPr/>
        </p:nvSpPr>
        <p:spPr>
          <a:xfrm>
            <a:off x="5852160" y="2715768"/>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What one pizza earns</a:t>
            </a:r>
            <a:endParaRPr lang="en-US" sz="1350" dirty="0"/>
          </a:p>
        </p:txBody>
      </p:sp>
      <p:sp>
        <p:nvSpPr>
          <p:cNvPr id="11" name="Shape 9"/>
          <p:cNvSpPr/>
          <p:nvPr/>
        </p:nvSpPr>
        <p:spPr>
          <a:xfrm>
            <a:off x="640080" y="3255264"/>
            <a:ext cx="10881360" cy="603504"/>
          </a:xfrm>
          <a:prstGeom prst="roundRect">
            <a:avLst>
              <a:gd name="adj" fmla="val 7576"/>
            </a:avLst>
          </a:prstGeom>
          <a:solidFill>
            <a:srgbClr val="EDE6D9"/>
          </a:solidFill>
          <a:ln w="12700">
            <a:solidFill>
              <a:srgbClr val="EDE6D9"/>
            </a:solidFill>
            <a:prstDash val="solid"/>
          </a:ln>
        </p:spPr>
      </p:sp>
      <p:sp>
        <p:nvSpPr>
          <p:cNvPr id="12" name="Text 10"/>
          <p:cNvSpPr/>
          <p:nvPr/>
        </p:nvSpPr>
        <p:spPr>
          <a:xfrm>
            <a:off x="1005840" y="3410712"/>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Cost to make</a:t>
            </a:r>
            <a:endParaRPr lang="en-US" sz="1500" dirty="0"/>
          </a:p>
        </p:txBody>
      </p:sp>
      <p:sp>
        <p:nvSpPr>
          <p:cNvPr id="13" name="Text 11"/>
          <p:cNvSpPr/>
          <p:nvPr/>
        </p:nvSpPr>
        <p:spPr>
          <a:xfrm>
            <a:off x="3749040" y="3419856"/>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₹90</a:t>
            </a:r>
            <a:endParaRPr lang="en-US" sz="1500" dirty="0"/>
          </a:p>
        </p:txBody>
      </p:sp>
      <p:sp>
        <p:nvSpPr>
          <p:cNvPr id="14" name="Text 12"/>
          <p:cNvSpPr/>
          <p:nvPr/>
        </p:nvSpPr>
        <p:spPr>
          <a:xfrm>
            <a:off x="5852160" y="3429000"/>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What one pizza costs — and what's lost if unsold</a:t>
            </a:r>
            <a:endParaRPr lang="en-US" sz="1350" dirty="0"/>
          </a:p>
        </p:txBody>
      </p:sp>
      <p:sp>
        <p:nvSpPr>
          <p:cNvPr id="15" name="Shape 13"/>
          <p:cNvSpPr/>
          <p:nvPr/>
        </p:nvSpPr>
        <p:spPr>
          <a:xfrm>
            <a:off x="640080" y="3968496"/>
            <a:ext cx="10881360" cy="603504"/>
          </a:xfrm>
          <a:prstGeom prst="roundRect">
            <a:avLst>
              <a:gd name="adj" fmla="val 7576"/>
            </a:avLst>
          </a:prstGeom>
          <a:solidFill>
            <a:srgbClr val="EDE6D9"/>
          </a:solidFill>
          <a:ln w="12700">
            <a:solidFill>
              <a:srgbClr val="EDE6D9"/>
            </a:solidFill>
            <a:prstDash val="solid"/>
          </a:ln>
        </p:spPr>
      </p:sp>
      <p:sp>
        <p:nvSpPr>
          <p:cNvPr id="16" name="Text 14"/>
          <p:cNvSpPr/>
          <p:nvPr/>
        </p:nvSpPr>
        <p:spPr>
          <a:xfrm>
            <a:off x="1005840" y="4123944"/>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Cost of running out</a:t>
            </a:r>
            <a:endParaRPr lang="en-US" sz="1500" dirty="0"/>
          </a:p>
        </p:txBody>
      </p:sp>
      <p:sp>
        <p:nvSpPr>
          <p:cNvPr id="17" name="Text 15"/>
          <p:cNvSpPr/>
          <p:nvPr/>
        </p:nvSpPr>
        <p:spPr>
          <a:xfrm>
            <a:off x="3749040" y="4133088"/>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₹140</a:t>
            </a:r>
            <a:endParaRPr lang="en-US" sz="1500" dirty="0"/>
          </a:p>
        </p:txBody>
      </p:sp>
      <p:sp>
        <p:nvSpPr>
          <p:cNvPr id="18" name="Text 16"/>
          <p:cNvSpPr/>
          <p:nvPr/>
        </p:nvSpPr>
        <p:spPr>
          <a:xfrm>
            <a:off x="5852160" y="4142232"/>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The profit lost when a customer walks away</a:t>
            </a:r>
            <a:endParaRPr lang="en-US" sz="1350" dirty="0"/>
          </a:p>
        </p:txBody>
      </p:sp>
      <p:sp>
        <p:nvSpPr>
          <p:cNvPr id="19" name="Shape 17"/>
          <p:cNvSpPr/>
          <p:nvPr/>
        </p:nvSpPr>
        <p:spPr>
          <a:xfrm>
            <a:off x="640080" y="4681728"/>
            <a:ext cx="10881360" cy="603504"/>
          </a:xfrm>
          <a:prstGeom prst="roundRect">
            <a:avLst>
              <a:gd name="adj" fmla="val 7576"/>
            </a:avLst>
          </a:prstGeom>
          <a:solidFill>
            <a:srgbClr val="EDE6D9"/>
          </a:solidFill>
          <a:ln w="12700">
            <a:solidFill>
              <a:srgbClr val="EDE6D9"/>
            </a:solidFill>
            <a:prstDash val="solid"/>
          </a:ln>
        </p:spPr>
      </p:sp>
      <p:sp>
        <p:nvSpPr>
          <p:cNvPr id="20" name="Text 18"/>
          <p:cNvSpPr/>
          <p:nvPr/>
        </p:nvSpPr>
        <p:spPr>
          <a:xfrm>
            <a:off x="1005840" y="4837176"/>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Balance point</a:t>
            </a:r>
            <a:endParaRPr lang="en-US" sz="1500" dirty="0"/>
          </a:p>
        </p:txBody>
      </p:sp>
      <p:sp>
        <p:nvSpPr>
          <p:cNvPr id="21" name="Text 19"/>
          <p:cNvSpPr/>
          <p:nvPr/>
        </p:nvSpPr>
        <p:spPr>
          <a:xfrm>
            <a:off x="3749040" y="4846320"/>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60.9%</a:t>
            </a:r>
            <a:endParaRPr lang="en-US" sz="1500" dirty="0"/>
          </a:p>
        </p:txBody>
      </p:sp>
      <p:sp>
        <p:nvSpPr>
          <p:cNvPr id="22" name="Text 20"/>
          <p:cNvSpPr/>
          <p:nvPr/>
        </p:nvSpPr>
        <p:spPr>
          <a:xfrm>
            <a:off x="5852160" y="4855464"/>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₹140 out of the ₹230 at stake — how far above average to aim</a:t>
            </a:r>
            <a:endParaRPr lang="en-US" sz="1350" dirty="0"/>
          </a:p>
        </p:txBody>
      </p:sp>
      <p:sp>
        <p:nvSpPr>
          <p:cNvPr id="23" name="Shape 21"/>
          <p:cNvSpPr/>
          <p:nvPr/>
        </p:nvSpPr>
        <p:spPr>
          <a:xfrm>
            <a:off x="640080" y="5394960"/>
            <a:ext cx="10881360" cy="603504"/>
          </a:xfrm>
          <a:prstGeom prst="roundRect">
            <a:avLst>
              <a:gd name="adj" fmla="val 7576"/>
            </a:avLst>
          </a:prstGeom>
          <a:solidFill>
            <a:srgbClr val="EDE6D9"/>
          </a:solidFill>
          <a:ln w="12700">
            <a:solidFill>
              <a:srgbClr val="EDE6D9"/>
            </a:solidFill>
            <a:prstDash val="solid"/>
          </a:ln>
        </p:spPr>
      </p:sp>
      <p:sp>
        <p:nvSpPr>
          <p:cNvPr id="24" name="Text 22"/>
          <p:cNvSpPr/>
          <p:nvPr/>
        </p:nvSpPr>
        <p:spPr>
          <a:xfrm>
            <a:off x="1005840" y="5550408"/>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Result</a:t>
            </a:r>
            <a:endParaRPr lang="en-US" sz="1500" dirty="0"/>
          </a:p>
        </p:txBody>
      </p:sp>
      <p:sp>
        <p:nvSpPr>
          <p:cNvPr id="25" name="Text 23"/>
          <p:cNvSpPr/>
          <p:nvPr/>
        </p:nvSpPr>
        <p:spPr>
          <a:xfrm>
            <a:off x="3749040" y="5559552"/>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31.8 → 32</a:t>
            </a:r>
            <a:endParaRPr lang="en-US" sz="1500" dirty="0"/>
          </a:p>
        </p:txBody>
      </p:sp>
      <p:sp>
        <p:nvSpPr>
          <p:cNvPr id="26" name="Text 24"/>
          <p:cNvSpPr/>
          <p:nvPr/>
        </p:nvSpPr>
        <p:spPr>
          <a:xfrm>
            <a:off x="5852160" y="5568696"/>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Average of 29.6, nudged up by the cost imbalance</a:t>
            </a:r>
            <a:endParaRPr lang="en-US" sz="1350" dirty="0"/>
          </a:p>
        </p:txBody>
      </p:sp>
      <p:sp>
        <p:nvSpPr>
          <p:cNvPr id="27" name="Text 25"/>
          <p:cNvSpPr/>
          <p:nvPr/>
        </p:nvSpPr>
        <p:spPr>
          <a:xfrm>
            <a:off x="640080" y="6272784"/>
            <a:ext cx="10881360" cy="365760"/>
          </a:xfrm>
          <a:prstGeom prst="rect">
            <a:avLst/>
          </a:prstGeom>
          <a:noFill/>
          <a:ln/>
        </p:spPr>
        <p:txBody>
          <a:bodyPr wrap="square" lIns="0" tIns="0" rIns="0" bIns="0" rtlCol="0" anchor="ctr"/>
          <a:lstStyle/>
          <a:p>
            <a:pPr indent="0" marL="0">
              <a:buNone/>
            </a:pPr>
            <a:r>
              <a:rPr lang="en-US" sz="1350" i="1" dirty="0">
                <a:solidFill>
                  <a:srgbClr val="6E675C"/>
                </a:solidFill>
                <a:latin typeface="Calibri" pitchFamily="34" charset="0"/>
                <a:ea typeface="Calibri" pitchFamily="34" charset="-122"/>
                <a:cs typeface="Calibri" pitchFamily="34" charset="-120"/>
              </a:rPr>
              <a:t>Rounded up, not down — because the more expensive mistake is making too few.</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11</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4</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When should we reorder?</a:t>
            </a:r>
            <a:endParaRPr lang="en-US" sz="3000" dirty="0"/>
          </a:p>
        </p:txBody>
      </p:sp>
      <p:graphicFrame>
        <p:nvGraphicFramePr>
          <p:cNvPr id="5" name="Chart 0" descr=""/>
          <p:cNvGraphicFramePr/>
          <p:nvPr/>
        </p:nvGraphicFramePr>
        <p:xfrm>
          <a:off x="640080" y="160020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5212080"/>
            <a:ext cx="6766560" cy="274320"/>
          </a:xfrm>
          <a:prstGeom prst="rect">
            <a:avLst/>
          </a:prstGeom>
          <a:noFill/>
          <a:ln/>
        </p:spPr>
        <p:txBody>
          <a:bodyPr wrap="square" lIns="0" tIns="0" rIns="0" bIns="0" rtlCol="0" anchor="ctr"/>
          <a:lstStyle/>
          <a:p>
            <a:pPr indent="0" marL="0">
              <a:buNone/>
            </a:pPr>
            <a:r>
              <a:rPr lang="en-US" sz="1100" i="1" dirty="0">
                <a:solidFill>
                  <a:srgbClr val="6E675C"/>
                </a:solidFill>
                <a:latin typeface="Calibri" pitchFamily="34" charset="0"/>
                <a:ea typeface="Calibri" pitchFamily="34" charset="-122"/>
                <a:cs typeface="Calibri" pitchFamily="34" charset="-120"/>
              </a:rPr>
              <a:t>Spare units held for each item</a:t>
            </a:r>
            <a:endParaRPr lang="en-US" sz="1100" dirty="0"/>
          </a:p>
        </p:txBody>
      </p:sp>
      <p:sp>
        <p:nvSpPr>
          <p:cNvPr id="7" name="Shape 4"/>
          <p:cNvSpPr/>
          <p:nvPr/>
        </p:nvSpPr>
        <p:spPr>
          <a:xfrm>
            <a:off x="7772400" y="1600200"/>
            <a:ext cx="3749040" cy="3566160"/>
          </a:xfrm>
          <a:prstGeom prst="roundRect">
            <a:avLst>
              <a:gd name="adj" fmla="val 1282"/>
            </a:avLst>
          </a:prstGeom>
          <a:solidFill>
            <a:srgbClr val="EDE6D9"/>
          </a:solidFill>
          <a:ln w="12700">
            <a:solidFill>
              <a:srgbClr val="EDE6D9"/>
            </a:solidFill>
            <a:prstDash val="solid"/>
          </a:ln>
        </p:spPr>
      </p:sp>
      <p:sp>
        <p:nvSpPr>
          <p:cNvPr id="8" name="Text 5"/>
          <p:cNvSpPr/>
          <p:nvPr/>
        </p:nvSpPr>
        <p:spPr>
          <a:xfrm>
            <a:off x="8092440" y="1874520"/>
            <a:ext cx="3108960" cy="457200"/>
          </a:xfrm>
          <a:prstGeom prst="rect">
            <a:avLst/>
          </a:prstGeom>
          <a:noFill/>
          <a:ln/>
        </p:spPr>
        <p:txBody>
          <a:bodyPr wrap="square" lIns="0" tIns="0" rIns="0" bIns="0" rtlCol="0" anchor="ctr"/>
          <a:lstStyle/>
          <a:p>
            <a:pPr indent="0" marL="0">
              <a:buNone/>
            </a:pPr>
            <a:r>
              <a:rPr lang="en-US" sz="2400" b="1" dirty="0">
                <a:solidFill>
                  <a:srgbClr val="21201D"/>
                </a:solidFill>
                <a:latin typeface="Century Schoolbook" pitchFamily="34" charset="0"/>
                <a:ea typeface="Century Schoolbook" pitchFamily="34" charset="-122"/>
                <a:cs typeface="Century Schoolbook" pitchFamily="34" charset="-120"/>
              </a:rPr>
              <a:t>Order at 137</a:t>
            </a:r>
            <a:endParaRPr lang="en-US" sz="2400" dirty="0"/>
          </a:p>
        </p:txBody>
      </p:sp>
      <p:sp>
        <p:nvSpPr>
          <p:cNvPr id="9" name="Text 6"/>
          <p:cNvSpPr/>
          <p:nvPr/>
        </p:nvSpPr>
        <p:spPr>
          <a:xfrm>
            <a:off x="8092440" y="2423160"/>
            <a:ext cx="310896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When stock drops to about 137 units, reorder automatically.</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69 of those are spare — cover for busy days and late suppliers.</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This covers 95% of situations. Chasing 99% costs far more.</a:t>
            </a:r>
            <a:endParaRPr lang="en-US" sz="1300" dirty="0"/>
          </a:p>
        </p:txBody>
      </p:sp>
      <p:sp>
        <p:nvSpPr>
          <p:cNvPr id="10" name="Text 7"/>
          <p:cNvSpPr/>
          <p:nvPr/>
        </p:nvSpPr>
        <p:spPr>
          <a:xfrm>
            <a:off x="640080" y="5577840"/>
            <a:ext cx="10881360" cy="365760"/>
          </a:xfrm>
          <a:prstGeom prst="rect">
            <a:avLst/>
          </a:prstGeom>
          <a:noFill/>
          <a:ln/>
        </p:spPr>
        <p:txBody>
          <a:bodyPr wrap="square" lIns="0" tIns="0" rIns="0" bIns="0" rtlCol="0" anchor="ctr"/>
          <a:lstStyle/>
          <a:p>
            <a:pPr indent="0" marL="0">
              <a:buNone/>
            </a:pPr>
            <a:r>
              <a:rPr lang="en-US" sz="1300" i="1" dirty="0">
                <a:solidFill>
                  <a:srgbClr val="B04A2F"/>
                </a:solidFill>
                <a:latin typeface="Calibri" pitchFamily="34" charset="0"/>
                <a:ea typeface="Calibri" pitchFamily="34" charset="-122"/>
                <a:cs typeface="Calibri" pitchFamily="34" charset="-120"/>
              </a:rPr>
              <a:t>One caveat: all six items need almost the same buffer, which is unusual. Worth double-checking the data before automating this.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12</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How the reorder point was set</a:t>
            </a:r>
            <a:endParaRPr lang="en-US" sz="3000" dirty="0"/>
          </a:p>
        </p:txBody>
      </p:sp>
      <p:sp>
        <p:nvSpPr>
          <p:cNvPr id="5" name="Shape 3"/>
          <p:cNvSpPr/>
          <p:nvPr/>
        </p:nvSpPr>
        <p:spPr>
          <a:xfrm>
            <a:off x="640080" y="1554480"/>
            <a:ext cx="10881360" cy="777240"/>
          </a:xfrm>
          <a:prstGeom prst="roundRect">
            <a:avLst>
              <a:gd name="adj" fmla="val 5882"/>
            </a:avLst>
          </a:prstGeom>
          <a:solidFill>
            <a:srgbClr val="21201D"/>
          </a:solidFill>
          <a:ln w="12700">
            <a:solidFill>
              <a:srgbClr val="21201D"/>
            </a:solidFill>
            <a:prstDash val="solid"/>
          </a:ln>
        </p:spPr>
      </p:sp>
      <p:sp>
        <p:nvSpPr>
          <p:cNvPr id="6" name="Text 4"/>
          <p:cNvSpPr/>
          <p:nvPr/>
        </p:nvSpPr>
        <p:spPr>
          <a:xfrm>
            <a:off x="1005840" y="1737360"/>
            <a:ext cx="10149840" cy="411480"/>
          </a:xfrm>
          <a:prstGeom prst="rect">
            <a:avLst/>
          </a:prstGeom>
          <a:noFill/>
          <a:ln/>
        </p:spPr>
        <p:txBody>
          <a:bodyPr wrap="square" lIns="0" tIns="0" rIns="0" bIns="0" rtlCol="0" anchor="ctr"/>
          <a:lstStyle/>
          <a:p>
            <a:pPr indent="0" marL="0">
              <a:buNone/>
            </a:pPr>
            <a:r>
              <a:rPr lang="en-US" sz="1800" b="1" dirty="0">
                <a:solidFill>
                  <a:srgbClr val="F6F2EA"/>
                </a:solidFill>
                <a:latin typeface="Century Schoolbook" pitchFamily="34" charset="0"/>
                <a:ea typeface="Century Schoolbook" pitchFamily="34" charset="-122"/>
                <a:cs typeface="Century Schoolbook" pitchFamily="34" charset="-120"/>
              </a:rPr>
              <a:t>Reorder point  =  what we'll sell while waiting for delivery  +  spare cover</a:t>
            </a:r>
            <a:endParaRPr lang="en-US" sz="1800" dirty="0"/>
          </a:p>
        </p:txBody>
      </p:sp>
      <p:sp>
        <p:nvSpPr>
          <p:cNvPr id="7" name="Shape 5"/>
          <p:cNvSpPr/>
          <p:nvPr/>
        </p:nvSpPr>
        <p:spPr>
          <a:xfrm>
            <a:off x="640080" y="2542032"/>
            <a:ext cx="10881360" cy="603504"/>
          </a:xfrm>
          <a:prstGeom prst="roundRect">
            <a:avLst>
              <a:gd name="adj" fmla="val 7576"/>
            </a:avLst>
          </a:prstGeom>
          <a:solidFill>
            <a:srgbClr val="EDE6D9"/>
          </a:solidFill>
          <a:ln w="12700">
            <a:solidFill>
              <a:srgbClr val="EDE6D9"/>
            </a:solidFill>
            <a:prstDash val="solid"/>
          </a:ln>
        </p:spPr>
      </p:sp>
      <p:sp>
        <p:nvSpPr>
          <p:cNvPr id="8" name="Text 6"/>
          <p:cNvSpPr/>
          <p:nvPr/>
        </p:nvSpPr>
        <p:spPr>
          <a:xfrm>
            <a:off x="1005840" y="2697480"/>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Service level</a:t>
            </a:r>
            <a:endParaRPr lang="en-US" sz="1500" dirty="0"/>
          </a:p>
        </p:txBody>
      </p:sp>
      <p:sp>
        <p:nvSpPr>
          <p:cNvPr id="9" name="Text 7"/>
          <p:cNvSpPr/>
          <p:nvPr/>
        </p:nvSpPr>
        <p:spPr>
          <a:xfrm>
            <a:off x="3749040" y="2706624"/>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95%</a:t>
            </a:r>
            <a:endParaRPr lang="en-US" sz="1500" dirty="0"/>
          </a:p>
        </p:txBody>
      </p:sp>
      <p:sp>
        <p:nvSpPr>
          <p:cNvPr id="10" name="Text 8"/>
          <p:cNvSpPr/>
          <p:nvPr/>
        </p:nvSpPr>
        <p:spPr>
          <a:xfrm>
            <a:off x="5852160" y="2715768"/>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We accept running short on 1 week in 20</a:t>
            </a:r>
            <a:endParaRPr lang="en-US" sz="1350" dirty="0"/>
          </a:p>
        </p:txBody>
      </p:sp>
      <p:sp>
        <p:nvSpPr>
          <p:cNvPr id="11" name="Shape 9"/>
          <p:cNvSpPr/>
          <p:nvPr/>
        </p:nvSpPr>
        <p:spPr>
          <a:xfrm>
            <a:off x="640080" y="3255264"/>
            <a:ext cx="10881360" cy="603504"/>
          </a:xfrm>
          <a:prstGeom prst="roundRect">
            <a:avLst>
              <a:gd name="adj" fmla="val 7576"/>
            </a:avLst>
          </a:prstGeom>
          <a:solidFill>
            <a:srgbClr val="EDE6D9"/>
          </a:solidFill>
          <a:ln w="12700">
            <a:solidFill>
              <a:srgbClr val="EDE6D9"/>
            </a:solidFill>
            <a:prstDash val="solid"/>
          </a:ln>
        </p:spPr>
      </p:sp>
      <p:sp>
        <p:nvSpPr>
          <p:cNvPr id="12" name="Text 10"/>
          <p:cNvSpPr/>
          <p:nvPr/>
        </p:nvSpPr>
        <p:spPr>
          <a:xfrm>
            <a:off x="1005840" y="3410712"/>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Safety factor</a:t>
            </a:r>
            <a:endParaRPr lang="en-US" sz="1500" dirty="0"/>
          </a:p>
        </p:txBody>
      </p:sp>
      <p:sp>
        <p:nvSpPr>
          <p:cNvPr id="13" name="Text 11"/>
          <p:cNvSpPr/>
          <p:nvPr/>
        </p:nvSpPr>
        <p:spPr>
          <a:xfrm>
            <a:off x="3749040" y="3419856"/>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1.645</a:t>
            </a:r>
            <a:endParaRPr lang="en-US" sz="1500" dirty="0"/>
          </a:p>
        </p:txBody>
      </p:sp>
      <p:sp>
        <p:nvSpPr>
          <p:cNvPr id="14" name="Text 12"/>
          <p:cNvSpPr/>
          <p:nvPr/>
        </p:nvSpPr>
        <p:spPr>
          <a:xfrm>
            <a:off x="5852160" y="3429000"/>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The multiplier that 95% cover requires</a:t>
            </a:r>
            <a:endParaRPr lang="en-US" sz="1350" dirty="0"/>
          </a:p>
        </p:txBody>
      </p:sp>
      <p:sp>
        <p:nvSpPr>
          <p:cNvPr id="15" name="Shape 13"/>
          <p:cNvSpPr/>
          <p:nvPr/>
        </p:nvSpPr>
        <p:spPr>
          <a:xfrm>
            <a:off x="640080" y="3968496"/>
            <a:ext cx="10881360" cy="603504"/>
          </a:xfrm>
          <a:prstGeom prst="roundRect">
            <a:avLst>
              <a:gd name="adj" fmla="val 7576"/>
            </a:avLst>
          </a:prstGeom>
          <a:solidFill>
            <a:srgbClr val="EDE6D9"/>
          </a:solidFill>
          <a:ln w="12700">
            <a:solidFill>
              <a:srgbClr val="EDE6D9"/>
            </a:solidFill>
            <a:prstDash val="solid"/>
          </a:ln>
        </p:spPr>
      </p:sp>
      <p:sp>
        <p:nvSpPr>
          <p:cNvPr id="16" name="Text 14"/>
          <p:cNvSpPr/>
          <p:nvPr/>
        </p:nvSpPr>
        <p:spPr>
          <a:xfrm>
            <a:off x="1005840" y="4123944"/>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Daily swing</a:t>
            </a:r>
            <a:endParaRPr lang="en-US" sz="1500" dirty="0"/>
          </a:p>
        </p:txBody>
      </p:sp>
      <p:sp>
        <p:nvSpPr>
          <p:cNvPr id="17" name="Text 15"/>
          <p:cNvSpPr/>
          <p:nvPr/>
        </p:nvSpPr>
        <p:spPr>
          <a:xfrm>
            <a:off x="3749040" y="4133088"/>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 8 units</a:t>
            </a:r>
            <a:endParaRPr lang="en-US" sz="1500" dirty="0"/>
          </a:p>
        </p:txBody>
      </p:sp>
      <p:sp>
        <p:nvSpPr>
          <p:cNvPr id="18" name="Text 16"/>
          <p:cNvSpPr/>
          <p:nvPr/>
        </p:nvSpPr>
        <p:spPr>
          <a:xfrm>
            <a:off x="5852160" y="4142232"/>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How much daily sales bounce around the average</a:t>
            </a:r>
            <a:endParaRPr lang="en-US" sz="1350" dirty="0"/>
          </a:p>
        </p:txBody>
      </p:sp>
      <p:sp>
        <p:nvSpPr>
          <p:cNvPr id="19" name="Shape 17"/>
          <p:cNvSpPr/>
          <p:nvPr/>
        </p:nvSpPr>
        <p:spPr>
          <a:xfrm>
            <a:off x="640080" y="4681728"/>
            <a:ext cx="10881360" cy="603504"/>
          </a:xfrm>
          <a:prstGeom prst="roundRect">
            <a:avLst>
              <a:gd name="adj" fmla="val 7576"/>
            </a:avLst>
          </a:prstGeom>
          <a:solidFill>
            <a:srgbClr val="EDE6D9"/>
          </a:solidFill>
          <a:ln w="12700">
            <a:solidFill>
              <a:srgbClr val="EDE6D9"/>
            </a:solidFill>
            <a:prstDash val="solid"/>
          </a:ln>
        </p:spPr>
      </p:sp>
      <p:sp>
        <p:nvSpPr>
          <p:cNvPr id="20" name="Text 18"/>
          <p:cNvSpPr/>
          <p:nvPr/>
        </p:nvSpPr>
        <p:spPr>
          <a:xfrm>
            <a:off x="1005840" y="4837176"/>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Spare cover</a:t>
            </a:r>
            <a:endParaRPr lang="en-US" sz="1500" dirty="0"/>
          </a:p>
        </p:txBody>
      </p:sp>
      <p:sp>
        <p:nvSpPr>
          <p:cNvPr id="21" name="Text 19"/>
          <p:cNvSpPr/>
          <p:nvPr/>
        </p:nvSpPr>
        <p:spPr>
          <a:xfrm>
            <a:off x="3749040" y="4846320"/>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69 units</a:t>
            </a:r>
            <a:endParaRPr lang="en-US" sz="1500" dirty="0"/>
          </a:p>
        </p:txBody>
      </p:sp>
      <p:sp>
        <p:nvSpPr>
          <p:cNvPr id="22" name="Text 20"/>
          <p:cNvSpPr/>
          <p:nvPr/>
        </p:nvSpPr>
        <p:spPr>
          <a:xfrm>
            <a:off x="5852160" y="4855464"/>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Protects against both busy days and late deliveries</a:t>
            </a:r>
            <a:endParaRPr lang="en-US" sz="1350" dirty="0"/>
          </a:p>
        </p:txBody>
      </p:sp>
      <p:sp>
        <p:nvSpPr>
          <p:cNvPr id="23" name="Shape 21"/>
          <p:cNvSpPr/>
          <p:nvPr/>
        </p:nvSpPr>
        <p:spPr>
          <a:xfrm>
            <a:off x="640080" y="5394960"/>
            <a:ext cx="10881360" cy="603504"/>
          </a:xfrm>
          <a:prstGeom prst="roundRect">
            <a:avLst>
              <a:gd name="adj" fmla="val 7576"/>
            </a:avLst>
          </a:prstGeom>
          <a:solidFill>
            <a:srgbClr val="EDE6D9"/>
          </a:solidFill>
          <a:ln w="12700">
            <a:solidFill>
              <a:srgbClr val="EDE6D9"/>
            </a:solidFill>
            <a:prstDash val="solid"/>
          </a:ln>
        </p:spPr>
      </p:sp>
      <p:sp>
        <p:nvSpPr>
          <p:cNvPr id="24" name="Text 22"/>
          <p:cNvSpPr/>
          <p:nvPr/>
        </p:nvSpPr>
        <p:spPr>
          <a:xfrm>
            <a:off x="1005840" y="5550408"/>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Reorder at</a:t>
            </a:r>
            <a:endParaRPr lang="en-US" sz="1500" dirty="0"/>
          </a:p>
        </p:txBody>
      </p:sp>
      <p:sp>
        <p:nvSpPr>
          <p:cNvPr id="25" name="Text 23"/>
          <p:cNvSpPr/>
          <p:nvPr/>
        </p:nvSpPr>
        <p:spPr>
          <a:xfrm>
            <a:off x="3749040" y="5559552"/>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137 units</a:t>
            </a:r>
            <a:endParaRPr lang="en-US" sz="1500" dirty="0"/>
          </a:p>
        </p:txBody>
      </p:sp>
      <p:sp>
        <p:nvSpPr>
          <p:cNvPr id="26" name="Text 24"/>
          <p:cNvSpPr/>
          <p:nvPr/>
        </p:nvSpPr>
        <p:spPr>
          <a:xfrm>
            <a:off x="5852160" y="5568696"/>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68 for the wait, plus 69 spare</a:t>
            </a:r>
            <a:endParaRPr lang="en-US" sz="1350" dirty="0"/>
          </a:p>
        </p:txBody>
      </p:sp>
      <p:sp>
        <p:nvSpPr>
          <p:cNvPr id="27" name="Text 25"/>
          <p:cNvSpPr/>
          <p:nvPr/>
        </p:nvSpPr>
        <p:spPr>
          <a:xfrm>
            <a:off x="640080" y="6272784"/>
            <a:ext cx="10881360" cy="365760"/>
          </a:xfrm>
          <a:prstGeom prst="rect">
            <a:avLst/>
          </a:prstGeom>
          <a:noFill/>
          <a:ln/>
        </p:spPr>
        <p:txBody>
          <a:bodyPr wrap="square" lIns="0" tIns="0" rIns="0" bIns="0" rtlCol="0" anchor="ctr"/>
          <a:lstStyle/>
          <a:p>
            <a:pPr indent="0" marL="0">
              <a:buNone/>
            </a:pPr>
            <a:r>
              <a:rPr lang="en-US" sz="1350" i="1" dirty="0">
                <a:solidFill>
                  <a:srgbClr val="6E675C"/>
                </a:solidFill>
                <a:latin typeface="Calibri" pitchFamily="34" charset="0"/>
                <a:ea typeface="Calibri" pitchFamily="34" charset="-122"/>
                <a:cs typeface="Calibri" pitchFamily="34" charset="-120"/>
              </a:rPr>
              <a:t>Going from 95% to 99% cover would tie up far more cash for very little extra protection.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13</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5</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Who should we buy from?</a:t>
            </a:r>
            <a:endParaRPr lang="en-US" sz="3000" dirty="0"/>
          </a:p>
        </p:txBody>
      </p:sp>
      <p:graphicFrame>
        <p:nvGraphicFramePr>
          <p:cNvPr id="5" name="Chart 0" descr=""/>
          <p:cNvGraphicFramePr/>
          <p:nvPr/>
        </p:nvGraphicFramePr>
        <p:xfrm>
          <a:off x="640080" y="1600200"/>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5486400"/>
            <a:ext cx="6858000" cy="274320"/>
          </a:xfrm>
          <a:prstGeom prst="rect">
            <a:avLst/>
          </a:prstGeom>
          <a:noFill/>
          <a:ln/>
        </p:spPr>
        <p:txBody>
          <a:bodyPr wrap="square" lIns="0" tIns="0" rIns="0" bIns="0" rtlCol="0" anchor="ctr"/>
          <a:lstStyle/>
          <a:p>
            <a:pPr indent="0" marL="0">
              <a:buNone/>
            </a:pPr>
            <a:r>
              <a:rPr lang="en-US" sz="1100" i="1" dirty="0">
                <a:solidFill>
                  <a:srgbClr val="6E675C"/>
                </a:solidFill>
                <a:latin typeface="Calibri" pitchFamily="34" charset="0"/>
                <a:ea typeface="Calibri" pitchFamily="34" charset="-122"/>
                <a:cs typeface="Calibri" pitchFamily="34" charset="-120"/>
              </a:rPr>
              <a:t>Cost per unit, in rupees</a:t>
            </a:r>
            <a:endParaRPr lang="en-US" sz="1100" dirty="0"/>
          </a:p>
        </p:txBody>
      </p:sp>
      <p:sp>
        <p:nvSpPr>
          <p:cNvPr id="7" name="Shape 4"/>
          <p:cNvSpPr/>
          <p:nvPr/>
        </p:nvSpPr>
        <p:spPr>
          <a:xfrm>
            <a:off x="7863840" y="1600200"/>
            <a:ext cx="3657600" cy="3840480"/>
          </a:xfrm>
          <a:prstGeom prst="roundRect">
            <a:avLst>
              <a:gd name="adj" fmla="val 1250"/>
            </a:avLst>
          </a:prstGeom>
          <a:solidFill>
            <a:srgbClr val="EDE6D9"/>
          </a:solidFill>
          <a:ln w="12700">
            <a:solidFill>
              <a:srgbClr val="EDE6D9"/>
            </a:solidFill>
            <a:prstDash val="solid"/>
          </a:ln>
        </p:spPr>
      </p:sp>
      <p:sp>
        <p:nvSpPr>
          <p:cNvPr id="8" name="Text 5"/>
          <p:cNvSpPr/>
          <p:nvPr/>
        </p:nvSpPr>
        <p:spPr>
          <a:xfrm>
            <a:off x="8183880" y="1874520"/>
            <a:ext cx="3017520" cy="365760"/>
          </a:xfrm>
          <a:prstGeom prst="rect">
            <a:avLst/>
          </a:prstGeom>
          <a:noFill/>
          <a:ln/>
        </p:spPr>
        <p:txBody>
          <a:bodyPr wrap="square" lIns="0" tIns="0" rIns="0" bIns="0" rtlCol="0" anchor="ctr"/>
          <a:lstStyle/>
          <a:p>
            <a:pPr indent="0" marL="0">
              <a:buNone/>
            </a:pPr>
            <a:r>
              <a:rPr lang="en-US" sz="2100" b="1" dirty="0">
                <a:solidFill>
                  <a:srgbClr val="B04A2F"/>
                </a:solidFill>
                <a:latin typeface="Century Schoolbook" pitchFamily="34" charset="0"/>
                <a:ea typeface="Century Schoolbook" pitchFamily="34" charset="-122"/>
                <a:cs typeface="Century Schoolbook" pitchFamily="34" charset="-120"/>
              </a:rPr>
              <a:t>The catch</a:t>
            </a:r>
            <a:endParaRPr lang="en-US" sz="2100" dirty="0"/>
          </a:p>
        </p:txBody>
      </p:sp>
      <p:sp>
        <p:nvSpPr>
          <p:cNvPr id="9" name="Text 6"/>
          <p:cNvSpPr/>
          <p:nvPr/>
        </p:nvSpPr>
        <p:spPr>
          <a:xfrm>
            <a:off x="8183880" y="2377440"/>
            <a:ext cx="301752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Local Farm is less than half the price of the other two.</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But it can only supply 350 units. We need 1,200.</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So the question isn't who's cheapest — it's where to spend the cheap supply.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14</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QUESTION 5 — THE ANSWER</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Spend the cheap supply on vegetables</a:t>
            </a:r>
            <a:endParaRPr lang="en-US" sz="3000" dirty="0"/>
          </a:p>
        </p:txBody>
      </p:sp>
      <p:sp>
        <p:nvSpPr>
          <p:cNvPr id="5" name="Shape 3"/>
          <p:cNvSpPr/>
          <p:nvPr/>
        </p:nvSpPr>
        <p:spPr>
          <a:xfrm>
            <a:off x="640080" y="1645920"/>
            <a:ext cx="5120640" cy="3017520"/>
          </a:xfrm>
          <a:prstGeom prst="roundRect">
            <a:avLst>
              <a:gd name="adj" fmla="val 1515"/>
            </a:avLst>
          </a:prstGeom>
          <a:solidFill>
            <a:srgbClr val="EDE6D9"/>
          </a:solidFill>
          <a:ln w="12700">
            <a:solidFill>
              <a:srgbClr val="EDE6D9"/>
            </a:solidFill>
            <a:prstDash val="solid"/>
          </a:ln>
        </p:spPr>
      </p:sp>
      <p:sp>
        <p:nvSpPr>
          <p:cNvPr id="6" name="Text 4"/>
          <p:cNvSpPr/>
          <p:nvPr/>
        </p:nvSpPr>
        <p:spPr>
          <a:xfrm>
            <a:off x="1005840" y="1965960"/>
            <a:ext cx="4389120" cy="731520"/>
          </a:xfrm>
          <a:prstGeom prst="rect">
            <a:avLst/>
          </a:prstGeom>
          <a:noFill/>
          <a:ln/>
        </p:spPr>
        <p:txBody>
          <a:bodyPr wrap="square" lIns="0" tIns="0" rIns="0" bIns="0" rtlCol="0" anchor="ctr"/>
          <a:lstStyle/>
          <a:p>
            <a:pPr indent="0" marL="0">
              <a:buNone/>
            </a:pPr>
            <a:r>
              <a:rPr lang="en-US" sz="3600" b="1" dirty="0">
                <a:solidFill>
                  <a:srgbClr val="B04A2F"/>
                </a:solidFill>
                <a:latin typeface="Century Schoolbook" pitchFamily="34" charset="0"/>
                <a:ea typeface="Century Schoolbook" pitchFamily="34" charset="-122"/>
                <a:cs typeface="Century Schoolbook" pitchFamily="34" charset="-120"/>
              </a:rPr>
              <a:t>₹15,15,850</a:t>
            </a:r>
            <a:endParaRPr lang="en-US" sz="3600" dirty="0"/>
          </a:p>
        </p:txBody>
      </p:sp>
      <p:sp>
        <p:nvSpPr>
          <p:cNvPr id="7" name="Text 5"/>
          <p:cNvSpPr/>
          <p:nvPr/>
        </p:nvSpPr>
        <p:spPr>
          <a:xfrm>
            <a:off x="1005840" y="2697480"/>
            <a:ext cx="4389120" cy="320040"/>
          </a:xfrm>
          <a:prstGeom prst="rect">
            <a:avLst/>
          </a:prstGeom>
          <a:noFill/>
          <a:ln/>
        </p:spPr>
        <p:txBody>
          <a:bodyPr wrap="square" lIns="0" tIns="0" rIns="0" bIns="0" rtlCol="0" anchor="ctr"/>
          <a:lstStyle/>
          <a:p>
            <a:pPr indent="0" marL="0">
              <a:buNone/>
            </a:pPr>
            <a:r>
              <a:rPr lang="en-US" sz="1400" i="1" dirty="0">
                <a:solidFill>
                  <a:srgbClr val="6E675C"/>
                </a:solidFill>
                <a:latin typeface="Calibri" pitchFamily="34" charset="0"/>
                <a:ea typeface="Calibri" pitchFamily="34" charset="-122"/>
                <a:cs typeface="Calibri" pitchFamily="34" charset="-120"/>
              </a:rPr>
              <a:t>cheapest possible weekly bill</a:t>
            </a:r>
            <a:endParaRPr lang="en-US" sz="1400" dirty="0"/>
          </a:p>
        </p:txBody>
      </p:sp>
      <p:sp>
        <p:nvSpPr>
          <p:cNvPr id="8" name="Text 6"/>
          <p:cNvSpPr/>
          <p:nvPr/>
        </p:nvSpPr>
        <p:spPr>
          <a:xfrm>
            <a:off x="1005840" y="3200400"/>
            <a:ext cx="438912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Local Farm: all 350 units → vegetables</a:t>
            </a:r>
            <a:endParaRPr lang="en-US" sz="1350" dirty="0"/>
          </a:p>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City Central: chicken, dairy, rest of veg</a:t>
            </a:r>
            <a:endParaRPr lang="en-US" sz="1350" dirty="0"/>
          </a:p>
          <a:p>
            <a:pPr marL="342900" indent="-342900">
              <a:lnSpc>
                <a:spcPts val="2000"/>
              </a:lnSpc>
              <a:spcAft>
                <a:spcPts val="1000"/>
              </a:spcAft>
              <a:buSzPct val="100000"/>
              <a:buChar char="•"/>
            </a:pPr>
            <a:r>
              <a:rPr lang="en-US" sz="1350" dirty="0">
                <a:solidFill>
                  <a:srgbClr val="3A3730"/>
                </a:solidFill>
                <a:latin typeface="Calibri" pitchFamily="34" charset="0"/>
                <a:ea typeface="Calibri" pitchFamily="34" charset="-122"/>
                <a:cs typeface="Calibri" pitchFamily="34" charset="-120"/>
              </a:rPr>
              <a:t>Metro: syrups only</a:t>
            </a:r>
            <a:endParaRPr lang="en-US" sz="1350" dirty="0"/>
          </a:p>
        </p:txBody>
      </p:sp>
      <p:sp>
        <p:nvSpPr>
          <p:cNvPr id="9" name="Shape 7"/>
          <p:cNvSpPr/>
          <p:nvPr/>
        </p:nvSpPr>
        <p:spPr>
          <a:xfrm>
            <a:off x="5943600" y="1645920"/>
            <a:ext cx="5577840" cy="3017520"/>
          </a:xfrm>
          <a:prstGeom prst="roundRect">
            <a:avLst>
              <a:gd name="adj" fmla="val 1515"/>
            </a:avLst>
          </a:prstGeom>
          <a:solidFill>
            <a:srgbClr val="EDE6D9"/>
          </a:solidFill>
          <a:ln w="12700">
            <a:solidFill>
              <a:srgbClr val="EDE6D9"/>
            </a:solidFill>
            <a:prstDash val="solid"/>
          </a:ln>
        </p:spPr>
      </p:sp>
      <p:sp>
        <p:nvSpPr>
          <p:cNvPr id="10" name="Text 8"/>
          <p:cNvSpPr/>
          <p:nvPr/>
        </p:nvSpPr>
        <p:spPr>
          <a:xfrm>
            <a:off x="6309360" y="1920240"/>
            <a:ext cx="4846320" cy="365760"/>
          </a:xfrm>
          <a:prstGeom prst="rect">
            <a:avLst/>
          </a:prstGeom>
          <a:noFill/>
          <a:ln/>
        </p:spPr>
        <p:txBody>
          <a:bodyPr wrap="square" lIns="0" tIns="0" rIns="0" bIns="0" rtlCol="0" anchor="ctr"/>
          <a:lstStyle/>
          <a:p>
            <a:pPr indent="0" marL="0">
              <a:buNone/>
            </a:pPr>
            <a:r>
              <a:rPr lang="en-US" sz="2100" b="1" dirty="0">
                <a:solidFill>
                  <a:srgbClr val="6B7A4F"/>
                </a:solidFill>
                <a:latin typeface="Century Schoolbook" pitchFamily="34" charset="0"/>
                <a:ea typeface="Century Schoolbook" pitchFamily="34" charset="-122"/>
                <a:cs typeface="Century Schoolbook" pitchFamily="34" charset="-120"/>
              </a:rPr>
              <a:t>Why vegetables?</a:t>
            </a:r>
            <a:endParaRPr lang="en-US" sz="2100" dirty="0"/>
          </a:p>
        </p:txBody>
      </p:sp>
      <p:sp>
        <p:nvSpPr>
          <p:cNvPr id="11" name="Text 9"/>
          <p:cNvSpPr/>
          <p:nvPr/>
        </p:nvSpPr>
        <p:spPr>
          <a:xfrm>
            <a:off x="6309360" y="2423160"/>
            <a:ext cx="4846320" cy="201168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Vegetables is where Local Farm saves us the most per unit — ₹911, against ₹878 for chicken.</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Chicken is the bigger order, but bigger isn't the point. Biggest saving is.</a:t>
            </a:r>
            <a:endParaRPr lang="en-US" sz="1300" dirty="0"/>
          </a:p>
          <a:p>
            <a:pPr marL="342900" indent="-342900">
              <a:lnSpc>
                <a:spcPts val="2000"/>
              </a:lnSpc>
              <a:spcAft>
                <a:spcPts val="1000"/>
              </a:spcAft>
              <a:buSzPct val="100000"/>
              <a:buChar char="•"/>
            </a:pPr>
            <a:r>
              <a:rPr lang="en-US" sz="1300" dirty="0">
                <a:solidFill>
                  <a:srgbClr val="3A3730"/>
                </a:solidFill>
                <a:latin typeface="Calibri" pitchFamily="34" charset="0"/>
                <a:ea typeface="Calibri" pitchFamily="34" charset="-122"/>
                <a:cs typeface="Calibri" pitchFamily="34" charset="-120"/>
              </a:rPr>
              <a:t>That small difference is worth over ₹3 lakh a year.</a:t>
            </a:r>
            <a:endParaRPr lang="en-US" sz="1300" dirty="0"/>
          </a:p>
        </p:txBody>
      </p:sp>
      <p:sp>
        <p:nvSpPr>
          <p:cNvPr id="12" name="Shape 10"/>
          <p:cNvSpPr/>
          <p:nvPr/>
        </p:nvSpPr>
        <p:spPr>
          <a:xfrm>
            <a:off x="640080" y="4937760"/>
            <a:ext cx="10881360" cy="822960"/>
          </a:xfrm>
          <a:prstGeom prst="roundRect">
            <a:avLst>
              <a:gd name="adj" fmla="val 5556"/>
            </a:avLst>
          </a:prstGeom>
          <a:solidFill>
            <a:srgbClr val="21201D"/>
          </a:solidFill>
          <a:ln w="12700">
            <a:solidFill>
              <a:srgbClr val="21201D"/>
            </a:solidFill>
            <a:prstDash val="solid"/>
          </a:ln>
        </p:spPr>
      </p:sp>
      <p:sp>
        <p:nvSpPr>
          <p:cNvPr id="13" name="Text 11"/>
          <p:cNvSpPr/>
          <p:nvPr/>
        </p:nvSpPr>
        <p:spPr>
          <a:xfrm>
            <a:off x="1005840" y="5166360"/>
            <a:ext cx="10149840" cy="365760"/>
          </a:xfrm>
          <a:prstGeom prst="rect">
            <a:avLst/>
          </a:prstGeom>
          <a:noFill/>
          <a:ln/>
        </p:spPr>
        <p:txBody>
          <a:bodyPr wrap="square" lIns="0" tIns="0" rIns="0" bIns="0" rtlCol="0" anchor="ctr"/>
          <a:lstStyle/>
          <a:p>
            <a:pPr indent="0" marL="0">
              <a:buNone/>
            </a:pPr>
            <a:r>
              <a:rPr lang="en-US" sz="1400" dirty="0">
                <a:solidFill>
                  <a:srgbClr val="F6F2EA"/>
                </a:solidFill>
                <a:latin typeface="Calibri" pitchFamily="34" charset="0"/>
                <a:ea typeface="Calibri" pitchFamily="34" charset="-122"/>
                <a:cs typeface="Calibri" pitchFamily="34" charset="-120"/>
              </a:rPr>
              <a:t>Local Farm is the bottleneck, not the price. Ask them for more capacity — that's where the money is.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10881360" y="411480"/>
            <a:ext cx="822960" cy="640080"/>
          </a:xfrm>
          <a:prstGeom prst="rect">
            <a:avLst/>
          </a:prstGeom>
          <a:noFill/>
          <a:ln/>
        </p:spPr>
        <p:txBody>
          <a:bodyPr wrap="square" lIns="0" tIns="0" rIns="0" bIns="0" rtlCol="0" anchor="ctr"/>
          <a:lstStyle/>
          <a:p>
            <a:pPr algn="r" indent="0" marL="0">
              <a:buNone/>
            </a:pPr>
            <a:r>
              <a:rPr lang="en-US" sz="4000" b="1" dirty="0">
                <a:solidFill>
                  <a:srgbClr val="EDE6D9"/>
                </a:solidFill>
                <a:latin typeface="Century Schoolbook" pitchFamily="34" charset="0"/>
                <a:ea typeface="Century Schoolbook" pitchFamily="34" charset="-122"/>
                <a:cs typeface="Century Schoolbook" pitchFamily="34" charset="-120"/>
              </a:rPr>
              <a:t>15</a:t>
            </a:r>
            <a:endParaRPr lang="en-US" sz="4000" dirty="0"/>
          </a:p>
        </p:txBody>
      </p:sp>
      <p:sp>
        <p:nvSpPr>
          <p:cNvPr id="3" name="Text 1"/>
          <p:cNvSpPr/>
          <p:nvPr/>
        </p:nvSpPr>
        <p:spPr>
          <a:xfrm>
            <a:off x="640080" y="457200"/>
            <a:ext cx="9601200" cy="237744"/>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640080" y="731520"/>
            <a:ext cx="9966960" cy="548640"/>
          </a:xfrm>
          <a:prstGeom prst="rect">
            <a:avLst/>
          </a:prstGeom>
          <a:noFill/>
          <a:ln/>
        </p:spPr>
        <p:txBody>
          <a:bodyPr wrap="square" lIns="0" tIns="0" rIns="0" bIns="0" rtlCol="0" anchor="ctr"/>
          <a:lstStyle/>
          <a:p>
            <a:pPr indent="0" marL="0">
              <a:buNone/>
            </a:pPr>
            <a:r>
              <a:rPr lang="en-US" sz="3000" b="1" dirty="0">
                <a:solidFill>
                  <a:srgbClr val="21201D"/>
                </a:solidFill>
                <a:latin typeface="Century Schoolbook" pitchFamily="34" charset="0"/>
                <a:ea typeface="Century Schoolbook" pitchFamily="34" charset="-122"/>
                <a:cs typeface="Century Schoolbook" pitchFamily="34" charset="-120"/>
              </a:rPr>
              <a:t>How the supplier plan was solved</a:t>
            </a:r>
            <a:endParaRPr lang="en-US" sz="3000" dirty="0"/>
          </a:p>
        </p:txBody>
      </p:sp>
      <p:sp>
        <p:nvSpPr>
          <p:cNvPr id="5" name="Shape 3"/>
          <p:cNvSpPr/>
          <p:nvPr/>
        </p:nvSpPr>
        <p:spPr>
          <a:xfrm>
            <a:off x="640080" y="1554480"/>
            <a:ext cx="10881360" cy="777240"/>
          </a:xfrm>
          <a:prstGeom prst="roundRect">
            <a:avLst>
              <a:gd name="adj" fmla="val 5882"/>
            </a:avLst>
          </a:prstGeom>
          <a:solidFill>
            <a:srgbClr val="21201D"/>
          </a:solidFill>
          <a:ln w="12700">
            <a:solidFill>
              <a:srgbClr val="21201D"/>
            </a:solidFill>
            <a:prstDash val="solid"/>
          </a:ln>
        </p:spPr>
      </p:sp>
      <p:sp>
        <p:nvSpPr>
          <p:cNvPr id="6" name="Text 4"/>
          <p:cNvSpPr/>
          <p:nvPr/>
        </p:nvSpPr>
        <p:spPr>
          <a:xfrm>
            <a:off x="1005840" y="1737360"/>
            <a:ext cx="10149840" cy="411480"/>
          </a:xfrm>
          <a:prstGeom prst="rect">
            <a:avLst/>
          </a:prstGeom>
          <a:noFill/>
          <a:ln/>
        </p:spPr>
        <p:txBody>
          <a:bodyPr wrap="square" lIns="0" tIns="0" rIns="0" bIns="0" rtlCol="0" anchor="ctr"/>
          <a:lstStyle/>
          <a:p>
            <a:pPr indent="0" marL="0">
              <a:buNone/>
            </a:pPr>
            <a:r>
              <a:rPr lang="en-US" sz="1800" b="1" dirty="0">
                <a:solidFill>
                  <a:srgbClr val="F6F2EA"/>
                </a:solidFill>
                <a:latin typeface="Century Schoolbook" pitchFamily="34" charset="0"/>
                <a:ea typeface="Century Schoolbook" pitchFamily="34" charset="-122"/>
                <a:cs typeface="Century Schoolbook" pitchFamily="34" charset="-120"/>
              </a:rPr>
              <a:t>Minimise total cost, while meeting every order and respecting every supplier's limit</a:t>
            </a:r>
            <a:endParaRPr lang="en-US" sz="1800" dirty="0"/>
          </a:p>
        </p:txBody>
      </p:sp>
      <p:sp>
        <p:nvSpPr>
          <p:cNvPr id="7" name="Shape 5"/>
          <p:cNvSpPr/>
          <p:nvPr/>
        </p:nvSpPr>
        <p:spPr>
          <a:xfrm>
            <a:off x="640080" y="2542032"/>
            <a:ext cx="10881360" cy="603504"/>
          </a:xfrm>
          <a:prstGeom prst="roundRect">
            <a:avLst>
              <a:gd name="adj" fmla="val 7576"/>
            </a:avLst>
          </a:prstGeom>
          <a:solidFill>
            <a:srgbClr val="EDE6D9"/>
          </a:solidFill>
          <a:ln w="12700">
            <a:solidFill>
              <a:srgbClr val="EDE6D9"/>
            </a:solidFill>
            <a:prstDash val="solid"/>
          </a:ln>
        </p:spPr>
      </p:sp>
      <p:sp>
        <p:nvSpPr>
          <p:cNvPr id="8" name="Text 6"/>
          <p:cNvSpPr/>
          <p:nvPr/>
        </p:nvSpPr>
        <p:spPr>
          <a:xfrm>
            <a:off x="1005840" y="2697480"/>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Choices to make</a:t>
            </a:r>
            <a:endParaRPr lang="en-US" sz="1500" dirty="0"/>
          </a:p>
        </p:txBody>
      </p:sp>
      <p:sp>
        <p:nvSpPr>
          <p:cNvPr id="9" name="Text 7"/>
          <p:cNvSpPr/>
          <p:nvPr/>
        </p:nvSpPr>
        <p:spPr>
          <a:xfrm>
            <a:off x="3749040" y="2706624"/>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12</a:t>
            </a:r>
            <a:endParaRPr lang="en-US" sz="1500" dirty="0"/>
          </a:p>
        </p:txBody>
      </p:sp>
      <p:sp>
        <p:nvSpPr>
          <p:cNvPr id="10" name="Text 8"/>
          <p:cNvSpPr/>
          <p:nvPr/>
        </p:nvSpPr>
        <p:spPr>
          <a:xfrm>
            <a:off x="5852160" y="2715768"/>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3 suppliers × 4 categories — how much to buy from each</a:t>
            </a:r>
            <a:endParaRPr lang="en-US" sz="1350" dirty="0"/>
          </a:p>
        </p:txBody>
      </p:sp>
      <p:sp>
        <p:nvSpPr>
          <p:cNvPr id="11" name="Shape 9"/>
          <p:cNvSpPr/>
          <p:nvPr/>
        </p:nvSpPr>
        <p:spPr>
          <a:xfrm>
            <a:off x="640080" y="3255264"/>
            <a:ext cx="10881360" cy="603504"/>
          </a:xfrm>
          <a:prstGeom prst="roundRect">
            <a:avLst>
              <a:gd name="adj" fmla="val 7576"/>
            </a:avLst>
          </a:prstGeom>
          <a:solidFill>
            <a:srgbClr val="EDE6D9"/>
          </a:solidFill>
          <a:ln w="12700">
            <a:solidFill>
              <a:srgbClr val="EDE6D9"/>
            </a:solidFill>
            <a:prstDash val="solid"/>
          </a:ln>
        </p:spPr>
      </p:sp>
      <p:sp>
        <p:nvSpPr>
          <p:cNvPr id="12" name="Text 10"/>
          <p:cNvSpPr/>
          <p:nvPr/>
        </p:nvSpPr>
        <p:spPr>
          <a:xfrm>
            <a:off x="1005840" y="3410712"/>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Rule 1</a:t>
            </a:r>
            <a:endParaRPr lang="en-US" sz="1500" dirty="0"/>
          </a:p>
        </p:txBody>
      </p:sp>
      <p:sp>
        <p:nvSpPr>
          <p:cNvPr id="13" name="Text 11"/>
          <p:cNvSpPr/>
          <p:nvPr/>
        </p:nvSpPr>
        <p:spPr>
          <a:xfrm>
            <a:off x="3749040" y="3419856"/>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Meet demand</a:t>
            </a:r>
            <a:endParaRPr lang="en-US" sz="1500" dirty="0"/>
          </a:p>
        </p:txBody>
      </p:sp>
      <p:sp>
        <p:nvSpPr>
          <p:cNvPr id="14" name="Text 12"/>
          <p:cNvSpPr/>
          <p:nvPr/>
        </p:nvSpPr>
        <p:spPr>
          <a:xfrm>
            <a:off x="5852160" y="3429000"/>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Every category order must be filled exactly</a:t>
            </a:r>
            <a:endParaRPr lang="en-US" sz="1350" dirty="0"/>
          </a:p>
        </p:txBody>
      </p:sp>
      <p:sp>
        <p:nvSpPr>
          <p:cNvPr id="15" name="Shape 13"/>
          <p:cNvSpPr/>
          <p:nvPr/>
        </p:nvSpPr>
        <p:spPr>
          <a:xfrm>
            <a:off x="640080" y="3968496"/>
            <a:ext cx="10881360" cy="603504"/>
          </a:xfrm>
          <a:prstGeom prst="roundRect">
            <a:avLst>
              <a:gd name="adj" fmla="val 7576"/>
            </a:avLst>
          </a:prstGeom>
          <a:solidFill>
            <a:srgbClr val="EDE6D9"/>
          </a:solidFill>
          <a:ln w="12700">
            <a:solidFill>
              <a:srgbClr val="EDE6D9"/>
            </a:solidFill>
            <a:prstDash val="solid"/>
          </a:ln>
        </p:spPr>
      </p:sp>
      <p:sp>
        <p:nvSpPr>
          <p:cNvPr id="16" name="Text 14"/>
          <p:cNvSpPr/>
          <p:nvPr/>
        </p:nvSpPr>
        <p:spPr>
          <a:xfrm>
            <a:off x="1005840" y="4123944"/>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Rule 2</a:t>
            </a:r>
            <a:endParaRPr lang="en-US" sz="1500" dirty="0"/>
          </a:p>
        </p:txBody>
      </p:sp>
      <p:sp>
        <p:nvSpPr>
          <p:cNvPr id="17" name="Text 15"/>
          <p:cNvSpPr/>
          <p:nvPr/>
        </p:nvSpPr>
        <p:spPr>
          <a:xfrm>
            <a:off x="3749040" y="4133088"/>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Respect limits</a:t>
            </a:r>
            <a:endParaRPr lang="en-US" sz="1500" dirty="0"/>
          </a:p>
        </p:txBody>
      </p:sp>
      <p:sp>
        <p:nvSpPr>
          <p:cNvPr id="18" name="Text 16"/>
          <p:cNvSpPr/>
          <p:nvPr/>
        </p:nvSpPr>
        <p:spPr>
          <a:xfrm>
            <a:off x="5852160" y="4142232"/>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No supplier can be asked for more than they can deliver</a:t>
            </a:r>
            <a:endParaRPr lang="en-US" sz="1350" dirty="0"/>
          </a:p>
        </p:txBody>
      </p:sp>
      <p:sp>
        <p:nvSpPr>
          <p:cNvPr id="19" name="Shape 17"/>
          <p:cNvSpPr/>
          <p:nvPr/>
        </p:nvSpPr>
        <p:spPr>
          <a:xfrm>
            <a:off x="640080" y="4681728"/>
            <a:ext cx="10881360" cy="603504"/>
          </a:xfrm>
          <a:prstGeom prst="roundRect">
            <a:avLst>
              <a:gd name="adj" fmla="val 7576"/>
            </a:avLst>
          </a:prstGeom>
          <a:solidFill>
            <a:srgbClr val="EDE6D9"/>
          </a:solidFill>
          <a:ln w="12700">
            <a:solidFill>
              <a:srgbClr val="EDE6D9"/>
            </a:solidFill>
            <a:prstDash val="solid"/>
          </a:ln>
        </p:spPr>
      </p:sp>
      <p:sp>
        <p:nvSpPr>
          <p:cNvPr id="20" name="Text 18"/>
          <p:cNvSpPr/>
          <p:nvPr/>
        </p:nvSpPr>
        <p:spPr>
          <a:xfrm>
            <a:off x="1005840" y="4837176"/>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Total needed</a:t>
            </a:r>
            <a:endParaRPr lang="en-US" sz="1500" dirty="0"/>
          </a:p>
        </p:txBody>
      </p:sp>
      <p:sp>
        <p:nvSpPr>
          <p:cNvPr id="21" name="Text 19"/>
          <p:cNvSpPr/>
          <p:nvPr/>
        </p:nvSpPr>
        <p:spPr>
          <a:xfrm>
            <a:off x="3749040" y="4846320"/>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1,200 units</a:t>
            </a:r>
            <a:endParaRPr lang="en-US" sz="1500" dirty="0"/>
          </a:p>
        </p:txBody>
      </p:sp>
      <p:sp>
        <p:nvSpPr>
          <p:cNvPr id="22" name="Text 20"/>
          <p:cNvSpPr/>
          <p:nvPr/>
        </p:nvSpPr>
        <p:spPr>
          <a:xfrm>
            <a:off x="5852160" y="4855464"/>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Against 1,950 units of supply available in total</a:t>
            </a:r>
            <a:endParaRPr lang="en-US" sz="1350" dirty="0"/>
          </a:p>
        </p:txBody>
      </p:sp>
      <p:sp>
        <p:nvSpPr>
          <p:cNvPr id="23" name="Shape 21"/>
          <p:cNvSpPr/>
          <p:nvPr/>
        </p:nvSpPr>
        <p:spPr>
          <a:xfrm>
            <a:off x="640080" y="5394960"/>
            <a:ext cx="10881360" cy="603504"/>
          </a:xfrm>
          <a:prstGeom prst="roundRect">
            <a:avLst>
              <a:gd name="adj" fmla="val 7576"/>
            </a:avLst>
          </a:prstGeom>
          <a:solidFill>
            <a:srgbClr val="EDE6D9"/>
          </a:solidFill>
          <a:ln w="12700">
            <a:solidFill>
              <a:srgbClr val="EDE6D9"/>
            </a:solidFill>
            <a:prstDash val="solid"/>
          </a:ln>
        </p:spPr>
      </p:sp>
      <p:sp>
        <p:nvSpPr>
          <p:cNvPr id="24" name="Text 22"/>
          <p:cNvSpPr/>
          <p:nvPr/>
        </p:nvSpPr>
        <p:spPr>
          <a:xfrm>
            <a:off x="1005840" y="5550408"/>
            <a:ext cx="2651760" cy="320040"/>
          </a:xfrm>
          <a:prstGeom prst="rect">
            <a:avLst/>
          </a:prstGeom>
          <a:noFill/>
          <a:ln/>
        </p:spPr>
        <p:txBody>
          <a:bodyPr wrap="square" lIns="0" tIns="0" rIns="0" bIns="0" rtlCol="0" anchor="ctr"/>
          <a:lstStyle/>
          <a:p>
            <a:pPr indent="0" marL="0">
              <a:buNone/>
            </a:pPr>
            <a:r>
              <a:rPr lang="en-US" sz="1500" b="1" dirty="0">
                <a:solidFill>
                  <a:srgbClr val="21201D"/>
                </a:solidFill>
                <a:latin typeface="Century Schoolbook" pitchFamily="34" charset="0"/>
                <a:ea typeface="Century Schoolbook" pitchFamily="34" charset="-122"/>
                <a:cs typeface="Century Schoolbook" pitchFamily="34" charset="-120"/>
              </a:rPr>
              <a:t>Cheapest answer</a:t>
            </a:r>
            <a:endParaRPr lang="en-US" sz="1500" dirty="0"/>
          </a:p>
        </p:txBody>
      </p:sp>
      <p:sp>
        <p:nvSpPr>
          <p:cNvPr id="25" name="Text 23"/>
          <p:cNvSpPr/>
          <p:nvPr/>
        </p:nvSpPr>
        <p:spPr>
          <a:xfrm>
            <a:off x="3749040" y="5559552"/>
            <a:ext cx="1920240" cy="320040"/>
          </a:xfrm>
          <a:prstGeom prst="rect">
            <a:avLst/>
          </a:prstGeom>
          <a:noFill/>
          <a:ln/>
        </p:spPr>
        <p:txBody>
          <a:bodyPr wrap="square" lIns="0" tIns="0" rIns="0" bIns="0" rtlCol="0" anchor="ctr"/>
          <a:lstStyle/>
          <a:p>
            <a:pPr indent="0" marL="0">
              <a:buNone/>
            </a:pPr>
            <a:r>
              <a:rPr lang="en-US" sz="1500" b="1" dirty="0">
                <a:solidFill>
                  <a:srgbClr val="B04A2F"/>
                </a:solidFill>
                <a:latin typeface="Calibri" pitchFamily="34" charset="0"/>
                <a:ea typeface="Calibri" pitchFamily="34" charset="-122"/>
                <a:cs typeface="Calibri" pitchFamily="34" charset="-120"/>
              </a:rPr>
              <a:t>₹15,15,850</a:t>
            </a:r>
            <a:endParaRPr lang="en-US" sz="1500" dirty="0"/>
          </a:p>
        </p:txBody>
      </p:sp>
      <p:sp>
        <p:nvSpPr>
          <p:cNvPr id="26" name="Text 24"/>
          <p:cNvSpPr/>
          <p:nvPr/>
        </p:nvSpPr>
        <p:spPr>
          <a:xfrm>
            <a:off x="5852160" y="5568696"/>
            <a:ext cx="5303520" cy="320040"/>
          </a:xfrm>
          <a:prstGeom prst="rect">
            <a:avLst/>
          </a:prstGeom>
          <a:noFill/>
          <a:ln/>
        </p:spPr>
        <p:txBody>
          <a:bodyPr wrap="square" lIns="0" tIns="0" rIns="0" bIns="0" rtlCol="0" anchor="ctr"/>
          <a:lstStyle/>
          <a:p>
            <a:pPr indent="0" marL="0">
              <a:buNone/>
            </a:pPr>
            <a:r>
              <a:rPr lang="en-US" sz="1350" dirty="0">
                <a:solidFill>
                  <a:srgbClr val="3A3730"/>
                </a:solidFill>
                <a:latin typeface="Calibri" pitchFamily="34" charset="0"/>
                <a:ea typeface="Calibri" pitchFamily="34" charset="-122"/>
                <a:cs typeface="Calibri" pitchFamily="34" charset="-120"/>
              </a:rPr>
              <a:t>Found by testing every valid combination</a:t>
            </a:r>
            <a:endParaRPr lang="en-US" sz="1350" dirty="0"/>
          </a:p>
        </p:txBody>
      </p:sp>
      <p:sp>
        <p:nvSpPr>
          <p:cNvPr id="27" name="Text 25"/>
          <p:cNvSpPr/>
          <p:nvPr/>
        </p:nvSpPr>
        <p:spPr>
          <a:xfrm>
            <a:off x="640080" y="6272784"/>
            <a:ext cx="10881360" cy="365760"/>
          </a:xfrm>
          <a:prstGeom prst="rect">
            <a:avLst/>
          </a:prstGeom>
          <a:noFill/>
          <a:ln/>
        </p:spPr>
        <p:txBody>
          <a:bodyPr wrap="square" lIns="0" tIns="0" rIns="0" bIns="0" rtlCol="0" anchor="ctr"/>
          <a:lstStyle/>
          <a:p>
            <a:pPr indent="0" marL="0">
              <a:buNone/>
            </a:pPr>
            <a:r>
              <a:rPr lang="en-US" sz="1350" i="1" dirty="0">
                <a:solidFill>
                  <a:srgbClr val="6E675C"/>
                </a:solidFill>
                <a:latin typeface="Calibri" pitchFamily="34" charset="0"/>
                <a:ea typeface="Calibri" pitchFamily="34" charset="-122"/>
                <a:cs typeface="Calibri" pitchFamily="34" charset="-120"/>
              </a:rPr>
              <a:t>Solved in Excel Solver. Local Farm and City Central end up fully used; Metro has room to spare.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01D"/>
        </a:solidFill>
      </p:bgPr>
    </p:bg>
    <p:spTree>
      <p:nvGrpSpPr>
        <p:cNvPr id="1" name=""/>
        <p:cNvGrpSpPr/>
        <p:nvPr/>
      </p:nvGrpSpPr>
      <p:grpSpPr>
        <a:xfrm>
          <a:off x="0" y="0"/>
          <a:ext cx="0" cy="0"/>
          <a:chOff x="0" y="0"/>
          <a:chExt cx="0" cy="0"/>
        </a:xfrm>
      </p:grpSpPr>
      <p:sp>
        <p:nvSpPr>
          <p:cNvPr id="2" name="Text 0"/>
          <p:cNvSpPr/>
          <p:nvPr/>
        </p:nvSpPr>
        <p:spPr>
          <a:xfrm>
            <a:off x="731520" y="640080"/>
            <a:ext cx="10698480" cy="274320"/>
          </a:xfrm>
          <a:prstGeom prst="rect">
            <a:avLst/>
          </a:prstGeom>
          <a:noFill/>
          <a:ln/>
        </p:spPr>
        <p:txBody>
          <a:bodyPr wrap="square" lIns="0" tIns="0" rIns="0" bIns="0" rtlCol="0" anchor="ctr"/>
          <a:lstStyle/>
          <a:p>
            <a:pPr indent="0" marL="0">
              <a:buNone/>
            </a:pPr>
            <a:r>
              <a:rPr lang="en-US" sz="1100" b="1" spc="200" kern="0" dirty="0">
                <a:solidFill>
                  <a:srgbClr val="B04A2F"/>
                </a:solidFill>
                <a:latin typeface="Calibri" pitchFamily="34" charset="0"/>
                <a:ea typeface="Calibri" pitchFamily="34" charset="-122"/>
                <a:cs typeface="Calibri" pitchFamily="34" charset="-120"/>
              </a:rPr>
              <a:t>WHAT TO DO ON MONDAY</a:t>
            </a:r>
            <a:endParaRPr lang="en-US" sz="1100" dirty="0"/>
          </a:p>
        </p:txBody>
      </p:sp>
      <p:sp>
        <p:nvSpPr>
          <p:cNvPr id="3" name="Text 1"/>
          <p:cNvSpPr/>
          <p:nvPr/>
        </p:nvSpPr>
        <p:spPr>
          <a:xfrm>
            <a:off x="731520" y="960120"/>
            <a:ext cx="10698480" cy="548640"/>
          </a:xfrm>
          <a:prstGeom prst="rect">
            <a:avLst/>
          </a:prstGeom>
          <a:noFill/>
          <a:ln/>
        </p:spPr>
        <p:txBody>
          <a:bodyPr wrap="square" lIns="0" tIns="0" rIns="0" bIns="0" rtlCol="0" anchor="ctr"/>
          <a:lstStyle/>
          <a:p>
            <a:pPr indent="0" marL="0">
              <a:buNone/>
            </a:pPr>
            <a:r>
              <a:rPr lang="en-US" sz="3400" b="1" dirty="0">
                <a:solidFill>
                  <a:srgbClr val="F6F2EA"/>
                </a:solidFill>
                <a:latin typeface="Century Schoolbook" pitchFamily="34" charset="0"/>
                <a:ea typeface="Century Schoolbook" pitchFamily="34" charset="-122"/>
                <a:cs typeface="Century Schoolbook" pitchFamily="34" charset="-120"/>
              </a:rPr>
              <a:t>Five changes</a:t>
            </a:r>
            <a:endParaRPr lang="en-US" sz="3400" dirty="0"/>
          </a:p>
        </p:txBody>
      </p:sp>
      <p:sp>
        <p:nvSpPr>
          <p:cNvPr id="4" name="Text 2"/>
          <p:cNvSpPr/>
          <p:nvPr/>
        </p:nvSpPr>
        <p:spPr>
          <a:xfrm>
            <a:off x="731520" y="1920240"/>
            <a:ext cx="2103120" cy="365760"/>
          </a:xfrm>
          <a:prstGeom prst="rect">
            <a:avLst/>
          </a:prstGeom>
          <a:noFill/>
          <a:ln/>
        </p:spPr>
        <p:txBody>
          <a:bodyPr wrap="square" lIns="0" tIns="0" rIns="0" bIns="0" rtlCol="0" anchor="ctr"/>
          <a:lstStyle/>
          <a:p>
            <a:pPr indent="0" marL="0">
              <a:buNone/>
            </a:pPr>
            <a:r>
              <a:rPr lang="en-US" sz="1800" b="1" dirty="0">
                <a:solidFill>
                  <a:srgbClr val="C9A227"/>
                </a:solidFill>
                <a:latin typeface="Century Schoolbook" pitchFamily="34" charset="0"/>
                <a:ea typeface="Century Schoolbook" pitchFamily="34" charset="-122"/>
                <a:cs typeface="Century Schoolbook" pitchFamily="34" charset="-120"/>
              </a:rPr>
              <a:t>Menu</a:t>
            </a:r>
            <a:endParaRPr lang="en-US" sz="1800" dirty="0"/>
          </a:p>
        </p:txBody>
      </p:sp>
      <p:sp>
        <p:nvSpPr>
          <p:cNvPr id="5" name="Text 3"/>
          <p:cNvSpPr/>
          <p:nvPr/>
        </p:nvSpPr>
        <p:spPr>
          <a:xfrm>
            <a:off x="3017520" y="1947672"/>
            <a:ext cx="8412480" cy="365760"/>
          </a:xfrm>
          <a:prstGeom prst="rect">
            <a:avLst/>
          </a:prstGeom>
          <a:noFill/>
          <a:ln/>
        </p:spPr>
        <p:txBody>
          <a:bodyPr wrap="square" lIns="0" tIns="0" rIns="0" bIns="0" rtlCol="0" anchor="ctr"/>
          <a:lstStyle/>
          <a:p>
            <a:pPr indent="0" marL="0">
              <a:buNone/>
            </a:pPr>
            <a:r>
              <a:rPr lang="en-US" sz="1500" dirty="0">
                <a:solidFill>
                  <a:srgbClr val="F6F2EA"/>
                </a:solidFill>
                <a:latin typeface="Calibri" pitchFamily="34" charset="0"/>
                <a:ea typeface="Calibri" pitchFamily="34" charset="-122"/>
                <a:cs typeface="Calibri" pitchFamily="34" charset="-120"/>
              </a:rPr>
              <a:t>Bundle lollipops with wings and move the two fryers together.</a:t>
            </a:r>
            <a:endParaRPr lang="en-US" sz="1500" dirty="0"/>
          </a:p>
        </p:txBody>
      </p:sp>
      <p:sp>
        <p:nvSpPr>
          <p:cNvPr id="6" name="Text 4"/>
          <p:cNvSpPr/>
          <p:nvPr/>
        </p:nvSpPr>
        <p:spPr>
          <a:xfrm>
            <a:off x="731520" y="2761488"/>
            <a:ext cx="2103120" cy="365760"/>
          </a:xfrm>
          <a:prstGeom prst="rect">
            <a:avLst/>
          </a:prstGeom>
          <a:noFill/>
          <a:ln/>
        </p:spPr>
        <p:txBody>
          <a:bodyPr wrap="square" lIns="0" tIns="0" rIns="0" bIns="0" rtlCol="0" anchor="ctr"/>
          <a:lstStyle/>
          <a:p>
            <a:pPr indent="0" marL="0">
              <a:buNone/>
            </a:pPr>
            <a:r>
              <a:rPr lang="en-US" sz="1800" b="1" dirty="0">
                <a:solidFill>
                  <a:srgbClr val="C9A227"/>
                </a:solidFill>
                <a:latin typeface="Century Schoolbook" pitchFamily="34" charset="0"/>
                <a:ea typeface="Century Schoolbook" pitchFamily="34" charset="-122"/>
                <a:cs typeface="Century Schoolbook" pitchFamily="34" charset="-120"/>
              </a:rPr>
              <a:t>Kitchen</a:t>
            </a:r>
            <a:endParaRPr lang="en-US" sz="1800" dirty="0"/>
          </a:p>
        </p:txBody>
      </p:sp>
      <p:sp>
        <p:nvSpPr>
          <p:cNvPr id="7" name="Text 5"/>
          <p:cNvSpPr/>
          <p:nvPr/>
        </p:nvSpPr>
        <p:spPr>
          <a:xfrm>
            <a:off x="3017520" y="2788920"/>
            <a:ext cx="8412480" cy="365760"/>
          </a:xfrm>
          <a:prstGeom prst="rect">
            <a:avLst/>
          </a:prstGeom>
          <a:noFill/>
          <a:ln/>
        </p:spPr>
        <p:txBody>
          <a:bodyPr wrap="square" lIns="0" tIns="0" rIns="0" bIns="0" rtlCol="0" anchor="ctr"/>
          <a:lstStyle/>
          <a:p>
            <a:pPr indent="0" marL="0">
              <a:buNone/>
            </a:pPr>
            <a:r>
              <a:rPr lang="en-US" sz="1500" dirty="0">
                <a:solidFill>
                  <a:srgbClr val="F6F2EA"/>
                </a:solidFill>
                <a:latin typeface="Calibri" pitchFamily="34" charset="0"/>
                <a:ea typeface="Calibri" pitchFamily="34" charset="-122"/>
                <a:cs typeface="Calibri" pitchFamily="34" charset="-120"/>
              </a:rPr>
              <a:t>Make 32 pizzas a day. Stop treating a little waste as failure.</a:t>
            </a:r>
            <a:endParaRPr lang="en-US" sz="1500" dirty="0"/>
          </a:p>
        </p:txBody>
      </p:sp>
      <p:sp>
        <p:nvSpPr>
          <p:cNvPr id="8" name="Text 6"/>
          <p:cNvSpPr/>
          <p:nvPr/>
        </p:nvSpPr>
        <p:spPr>
          <a:xfrm>
            <a:off x="731520" y="3602736"/>
            <a:ext cx="2103120" cy="365760"/>
          </a:xfrm>
          <a:prstGeom prst="rect">
            <a:avLst/>
          </a:prstGeom>
          <a:noFill/>
          <a:ln/>
        </p:spPr>
        <p:txBody>
          <a:bodyPr wrap="square" lIns="0" tIns="0" rIns="0" bIns="0" rtlCol="0" anchor="ctr"/>
          <a:lstStyle/>
          <a:p>
            <a:pPr indent="0" marL="0">
              <a:buNone/>
            </a:pPr>
            <a:r>
              <a:rPr lang="en-US" sz="1800" b="1" dirty="0">
                <a:solidFill>
                  <a:srgbClr val="C9A227"/>
                </a:solidFill>
                <a:latin typeface="Century Schoolbook" pitchFamily="34" charset="0"/>
                <a:ea typeface="Century Schoolbook" pitchFamily="34" charset="-122"/>
                <a:cs typeface="Century Schoolbook" pitchFamily="34" charset="-120"/>
              </a:rPr>
              <a:t>Stock</a:t>
            </a:r>
            <a:endParaRPr lang="en-US" sz="1800" dirty="0"/>
          </a:p>
        </p:txBody>
      </p:sp>
      <p:sp>
        <p:nvSpPr>
          <p:cNvPr id="9" name="Text 7"/>
          <p:cNvSpPr/>
          <p:nvPr/>
        </p:nvSpPr>
        <p:spPr>
          <a:xfrm>
            <a:off x="3017520" y="3630168"/>
            <a:ext cx="8412480" cy="365760"/>
          </a:xfrm>
          <a:prstGeom prst="rect">
            <a:avLst/>
          </a:prstGeom>
          <a:noFill/>
          <a:ln/>
        </p:spPr>
        <p:txBody>
          <a:bodyPr wrap="square" lIns="0" tIns="0" rIns="0" bIns="0" rtlCol="0" anchor="ctr"/>
          <a:lstStyle/>
          <a:p>
            <a:pPr indent="0" marL="0">
              <a:buNone/>
            </a:pPr>
            <a:r>
              <a:rPr lang="en-US" sz="1500" dirty="0">
                <a:solidFill>
                  <a:srgbClr val="F6F2EA"/>
                </a:solidFill>
                <a:latin typeface="Calibri" pitchFamily="34" charset="0"/>
                <a:ea typeface="Calibri" pitchFamily="34" charset="-122"/>
                <a:cs typeface="Calibri" pitchFamily="34" charset="-120"/>
              </a:rPr>
              <a:t>Reorder automatically at 137 units — after checking the data.</a:t>
            </a:r>
            <a:endParaRPr lang="en-US" sz="1500" dirty="0"/>
          </a:p>
        </p:txBody>
      </p:sp>
      <p:sp>
        <p:nvSpPr>
          <p:cNvPr id="10" name="Text 8"/>
          <p:cNvSpPr/>
          <p:nvPr/>
        </p:nvSpPr>
        <p:spPr>
          <a:xfrm>
            <a:off x="731520" y="4443984"/>
            <a:ext cx="2103120" cy="365760"/>
          </a:xfrm>
          <a:prstGeom prst="rect">
            <a:avLst/>
          </a:prstGeom>
          <a:noFill/>
          <a:ln/>
        </p:spPr>
        <p:txBody>
          <a:bodyPr wrap="square" lIns="0" tIns="0" rIns="0" bIns="0" rtlCol="0" anchor="ctr"/>
          <a:lstStyle/>
          <a:p>
            <a:pPr indent="0" marL="0">
              <a:buNone/>
            </a:pPr>
            <a:r>
              <a:rPr lang="en-US" sz="1800" b="1" dirty="0">
                <a:solidFill>
                  <a:srgbClr val="C9A227"/>
                </a:solidFill>
                <a:latin typeface="Century Schoolbook" pitchFamily="34" charset="0"/>
                <a:ea typeface="Century Schoolbook" pitchFamily="34" charset="-122"/>
                <a:cs typeface="Century Schoolbook" pitchFamily="34" charset="-120"/>
              </a:rPr>
              <a:t>Buying</a:t>
            </a:r>
            <a:endParaRPr lang="en-US" sz="1800" dirty="0"/>
          </a:p>
        </p:txBody>
      </p:sp>
      <p:sp>
        <p:nvSpPr>
          <p:cNvPr id="11" name="Text 9"/>
          <p:cNvSpPr/>
          <p:nvPr/>
        </p:nvSpPr>
        <p:spPr>
          <a:xfrm>
            <a:off x="3017520" y="4471416"/>
            <a:ext cx="8412480" cy="365760"/>
          </a:xfrm>
          <a:prstGeom prst="rect">
            <a:avLst/>
          </a:prstGeom>
          <a:noFill/>
          <a:ln/>
        </p:spPr>
        <p:txBody>
          <a:bodyPr wrap="square" lIns="0" tIns="0" rIns="0" bIns="0" rtlCol="0" anchor="ctr"/>
          <a:lstStyle/>
          <a:p>
            <a:pPr indent="0" marL="0">
              <a:buNone/>
            </a:pPr>
            <a:r>
              <a:rPr lang="en-US" sz="1500" dirty="0">
                <a:solidFill>
                  <a:srgbClr val="F6F2EA"/>
                </a:solidFill>
                <a:latin typeface="Calibri" pitchFamily="34" charset="0"/>
                <a:ea typeface="Calibri" pitchFamily="34" charset="-122"/>
                <a:cs typeface="Calibri" pitchFamily="34" charset="-120"/>
              </a:rPr>
              <a:t>Give Local Farm the vegetable order, and ask for more capacity.</a:t>
            </a:r>
            <a:endParaRPr lang="en-US" sz="1500" dirty="0"/>
          </a:p>
        </p:txBody>
      </p:sp>
      <p:sp>
        <p:nvSpPr>
          <p:cNvPr id="12" name="Text 10"/>
          <p:cNvSpPr/>
          <p:nvPr/>
        </p:nvSpPr>
        <p:spPr>
          <a:xfrm>
            <a:off x="731520" y="5285232"/>
            <a:ext cx="2103120" cy="365760"/>
          </a:xfrm>
          <a:prstGeom prst="rect">
            <a:avLst/>
          </a:prstGeom>
          <a:noFill/>
          <a:ln/>
        </p:spPr>
        <p:txBody>
          <a:bodyPr wrap="square" lIns="0" tIns="0" rIns="0" bIns="0" rtlCol="0" anchor="ctr"/>
          <a:lstStyle/>
          <a:p>
            <a:pPr indent="0" marL="0">
              <a:buNone/>
            </a:pPr>
            <a:r>
              <a:rPr lang="en-US" sz="1800" b="1" dirty="0">
                <a:solidFill>
                  <a:srgbClr val="C9A227"/>
                </a:solidFill>
                <a:latin typeface="Century Schoolbook" pitchFamily="34" charset="0"/>
                <a:ea typeface="Century Schoolbook" pitchFamily="34" charset="-122"/>
                <a:cs typeface="Century Schoolbook" pitchFamily="34" charset="-120"/>
              </a:rPr>
              <a:t>Forecast</a:t>
            </a:r>
            <a:endParaRPr lang="en-US" sz="1800" dirty="0"/>
          </a:p>
        </p:txBody>
      </p:sp>
      <p:sp>
        <p:nvSpPr>
          <p:cNvPr id="13" name="Text 11"/>
          <p:cNvSpPr/>
          <p:nvPr/>
        </p:nvSpPr>
        <p:spPr>
          <a:xfrm>
            <a:off x="3017520" y="5312664"/>
            <a:ext cx="8412480" cy="365760"/>
          </a:xfrm>
          <a:prstGeom prst="rect">
            <a:avLst/>
          </a:prstGeom>
          <a:noFill/>
          <a:ln/>
        </p:spPr>
        <p:txBody>
          <a:bodyPr wrap="square" lIns="0" tIns="0" rIns="0" bIns="0" rtlCol="0" anchor="ctr"/>
          <a:lstStyle/>
          <a:p>
            <a:pPr indent="0" marL="0">
              <a:buNone/>
            </a:pPr>
            <a:r>
              <a:rPr lang="en-US" sz="1500" dirty="0">
                <a:solidFill>
                  <a:srgbClr val="F6F2EA"/>
                </a:solidFill>
                <a:latin typeface="Calibri" pitchFamily="34" charset="0"/>
                <a:ea typeface="Calibri" pitchFamily="34" charset="-122"/>
                <a:cs typeface="Calibri" pitchFamily="34" charset="-120"/>
              </a:rPr>
              <a:t>Rebuild it to handle summer before using it for anything.</a:t>
            </a:r>
            <a:endParaRPr lang="en-US" sz="1500" dirty="0"/>
          </a:p>
        </p:txBody>
      </p:sp>
      <p:sp>
        <p:nvSpPr>
          <p:cNvPr id="14" name="Text 12"/>
          <p:cNvSpPr/>
          <p:nvPr/>
        </p:nvSpPr>
        <p:spPr>
          <a:xfrm>
            <a:off x="731520" y="6263640"/>
            <a:ext cx="10698480" cy="320040"/>
          </a:xfrm>
          <a:prstGeom prst="rect">
            <a:avLst/>
          </a:prstGeom>
          <a:noFill/>
          <a:ln/>
        </p:spPr>
        <p:txBody>
          <a:bodyPr wrap="square" lIns="0" tIns="0" rIns="0" bIns="0" rtlCol="0" anchor="ctr"/>
          <a:lstStyle/>
          <a:p>
            <a:pPr indent="0" marL="0">
              <a:buNone/>
            </a:pPr>
            <a:r>
              <a:rPr lang="en-US" sz="1400" i="1" dirty="0">
                <a:solidFill>
                  <a:srgbClr val="9C958A"/>
                </a:solidFill>
                <a:latin typeface="Calibri" pitchFamily="34" charset="0"/>
                <a:ea typeface="Calibri" pitchFamily="34" charset="-122"/>
                <a:cs typeface="Calibri" pitchFamily="34" charset="-120"/>
              </a:rPr>
              <a:t>Thank you — happy to take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2026-08-22T23:07:12Z</dcterms:created>
  <dcterms:modified xsi:type="dcterms:W3CDTF">2026-08-22T23:07:12Z</dcterms:modified>
</cp:coreProperties>
</file>